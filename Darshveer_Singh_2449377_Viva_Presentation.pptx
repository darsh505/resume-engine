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0" y="0"/>
            <a:ext cx="3962095" cy="6858000"/>
          </a:xfrm>
          <a:prstGeom prst="roundRect">
            <a:avLst/>
          </a:prstGeom>
          <a:solidFill>
            <a:srgbClr val="9F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8961120" y="1097280"/>
            <a:ext cx="2011680" cy="2011680"/>
          </a:xfrm>
          <a:prstGeom prst="star8">
            <a:avLst/>
          </a:prstGeom>
          <a:solidFill>
            <a:srgbClr val="D47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6880" y="3840480"/>
            <a:ext cx="2011680" cy="2194560"/>
          </a:xfrm>
          <a:prstGeom prst="roundRect">
            <a:avLst/>
          </a:prstGeom>
          <a:solidFill>
            <a:srgbClr val="E5B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731520"/>
            <a:ext cx="3474720" cy="320040"/>
          </a:xfrm>
          <a:prstGeom prst="roundRect">
            <a:avLst/>
          </a:prstGeom>
          <a:solidFill>
            <a:srgbClr val="D47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SIX WEEKS INDUSTRIAL TRAINING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315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B2421"/>
                </a:solidFill>
                <a:latin typeface="Georgia"/>
              </a:defRPr>
            </a:pPr>
            <a:r>
              <a:t>Resume Engine</a:t>
            </a:r>
          </a:p>
          <a:p>
            <a:pPr>
              <a:defRPr sz="1700">
                <a:solidFill>
                  <a:srgbClr val="D47A5B"/>
                </a:solidFill>
                <a:latin typeface="Georgia"/>
              </a:defRPr>
            </a:pPr>
            <a:r>
              <a:t>Git-Driven Tag-Based Resume Compilation &amp; Local Management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7132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F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6766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2B2421"/>
                </a:solidFill>
                <a:latin typeface="Calibri"/>
              </a:rPr>
              <a:t>Candidate Name: </a:t>
            </a:r>
            <a:r>
              <a:rPr sz="1000" b="0">
                <a:solidFill>
                  <a:srgbClr val="695F5A"/>
                </a:solidFill>
                <a:latin typeface="Calibri"/>
              </a:rPr>
              <a:t>Darshveer Singh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2B2421"/>
                </a:solidFill>
                <a:latin typeface="Calibri"/>
              </a:rPr>
              <a:t>University Roll No: </a:t>
            </a:r>
            <a:r>
              <a:rPr sz="1000" b="0">
                <a:solidFill>
                  <a:srgbClr val="695F5A"/>
                </a:solidFill>
                <a:latin typeface="Calibri"/>
              </a:rPr>
              <a:t>2449377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2B2421"/>
                </a:solidFill>
                <a:latin typeface="Calibri"/>
              </a:rPr>
              <a:t>Degree &amp; Branch: </a:t>
            </a:r>
            <a:r>
              <a:rPr sz="1000" b="0">
                <a:solidFill>
                  <a:srgbClr val="695F5A"/>
                </a:solidFill>
                <a:latin typeface="Calibri"/>
              </a:rPr>
              <a:t>B.Tech Computer Science &amp; Engineering (AI &amp; ML)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2B2421"/>
                </a:solidFill>
                <a:latin typeface="Calibri"/>
              </a:rPr>
              <a:t>Institution: </a:t>
            </a:r>
            <a:r>
              <a:rPr sz="1000" b="0">
                <a:solidFill>
                  <a:srgbClr val="695F5A"/>
                </a:solidFill>
                <a:latin typeface="Calibri"/>
              </a:rPr>
              <a:t>Rayat Bahra Institute of Engineering &amp; Nanotechnology, Hoshiarpur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2B2421"/>
                </a:solidFill>
                <a:latin typeface="Calibri"/>
              </a:rPr>
              <a:t>Training Organisation: </a:t>
            </a:r>
            <a:r>
              <a:rPr sz="1000" b="0">
                <a:solidFill>
                  <a:srgbClr val="695F5A"/>
                </a:solidFill>
                <a:latin typeface="Calibri"/>
              </a:rPr>
              <a:t>Mits Academy | Mentor: Srishti (Technical Lead)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2B2421"/>
                </a:solidFill>
                <a:latin typeface="Calibri"/>
              </a:rPr>
              <a:t>Technical Domain: </a:t>
            </a:r>
            <a:r>
              <a:rPr sz="1000" b="0">
                <a:solidFill>
                  <a:srgbClr val="695F5A"/>
                </a:solidFill>
                <a:latin typeface="Calibri"/>
              </a:rPr>
              <a:t>Systems Programming, Document Automation &amp; Offline Local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-457200"/>
            <a:ext cx="2011680" cy="2011680"/>
          </a:xfrm>
          <a:prstGeom prst="ellipse">
            <a:avLst/>
          </a:prstGeom>
          <a:solidFill>
            <a:srgbClr val="9F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47120" y="5760720"/>
            <a:ext cx="1371600" cy="1371600"/>
          </a:xfrm>
          <a:prstGeom prst="roundRect">
            <a:avLst/>
          </a:prstGeom>
          <a:solidFill>
            <a:srgbClr val="E5B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7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7A5B"/>
                </a:solidFill>
                <a:latin typeface="Calibri"/>
              </a:defRPr>
            </a:pPr>
            <a:r>
              <a:t>RESUME ENGINE - VIVA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2421"/>
                </a:solidFill>
                <a:latin typeface="Georgia"/>
              </a:defRPr>
            </a:pPr>
            <a:r>
              <a:t>Industrial Training Overview &amp; Institutional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134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F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B2421"/>
                </a:solidFill>
                <a:latin typeface="Georgia"/>
              </a:defRPr>
            </a:pPr>
            <a:r>
              <a:t>Mits Academy</a:t>
            </a:r>
          </a:p>
          <a:p>
            <a:pPr>
              <a:spcAft>
                <a:spcPts val="1400"/>
              </a:spcAft>
              <a:defRPr sz="1000">
                <a:solidFill>
                  <a:srgbClr val="9FB8A6"/>
                </a:solidFill>
                <a:latin typeface="Calibri"/>
              </a:defRPr>
            </a:pPr>
            <a:r>
              <a:t>Corporate Training Environment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Organization: Mits Academy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Duration: 8 June 2026 to 28 July 2026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Tenure: 45 Calendar Days (37 Working Days)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Primary Mentor: Srishti (Technical Lead)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Focus: Production Python, Document Automation &amp; ATS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134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B2421"/>
                </a:solidFill>
                <a:latin typeface="Georgia"/>
              </a:defRPr>
            </a:pPr>
            <a:r>
              <a:t>Academic Alignment</a:t>
            </a:r>
          </a:p>
          <a:p>
            <a:pPr>
              <a:spcAft>
                <a:spcPts val="1400"/>
              </a:spcAft>
              <a:defRPr sz="1000">
                <a:solidFill>
                  <a:srgbClr val="D47A5B"/>
                </a:solidFill>
                <a:latin typeface="Calibri"/>
              </a:defRPr>
            </a:pPr>
            <a:r>
              <a:t>Rayat Bahra Institute (RBIENT)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Candidate: Darshveer Singh (Roll No: 2449377)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Branch: B.Tech CSE (AI &amp; ML)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Semester: 4th Semester Industrial Training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Curriculum: Hands-on Software Engineering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Outcome: Independent Production-Grade Artifact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134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B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B2421"/>
                </a:solidFill>
                <a:latin typeface="Georgia"/>
              </a:defRPr>
            </a:pPr>
            <a:r>
              <a:t>Core Competencies</a:t>
            </a:r>
          </a:p>
          <a:p>
            <a:pPr>
              <a:spcAft>
                <a:spcPts val="1400"/>
              </a:spcAft>
              <a:defRPr sz="1000">
                <a:solidFill>
                  <a:srgbClr val="E5BE6C"/>
                </a:solidFill>
                <a:latin typeface="Calibri"/>
              </a:defRPr>
            </a:pPr>
            <a:r>
              <a:t>Key Technical Areas Mastered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Modern Python 3.14 with strict type annotations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ReportLab 5.0 canvas math and PDF bytecode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Asynchronous web engineering with FastAPI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Automated testing with Pytest (42 test suite)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Git version control and automated commit hooks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-457200"/>
            <a:ext cx="2011680" cy="2011680"/>
          </a:xfrm>
          <a:prstGeom prst="ellipse">
            <a:avLst/>
          </a:prstGeom>
          <a:solidFill>
            <a:srgbClr val="9F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47120" y="5760720"/>
            <a:ext cx="1371600" cy="1371600"/>
          </a:xfrm>
          <a:prstGeom prst="roundRect">
            <a:avLst/>
          </a:prstGeom>
          <a:solidFill>
            <a:srgbClr val="E5B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7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7A5B"/>
                </a:solidFill>
                <a:latin typeface="Calibri"/>
              </a:defRPr>
            </a:pPr>
            <a:r>
              <a:t>RESUME ENGINE - VIVA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2421"/>
                </a:solidFill>
                <a:latin typeface="Georgia"/>
              </a:defRPr>
            </a:pPr>
            <a:r>
              <a:t>Problem Statement: Challenges in Modern Resume Tailoring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D47A5B"/>
                </a:solidFill>
                <a:latin typeface="Georgia"/>
              </a:defRPr>
            </a:pPr>
            <a:r>
              <a:t>Key Industry Challenges</a:t>
            </a:r>
          </a:p>
          <a:p>
            <a:r>
              <a:rPr sz="1100" b="1">
                <a:solidFill>
                  <a:srgbClr val="2B2421"/>
                </a:solidFill>
                <a:latin typeface="Calibri"/>
              </a:rPr>
              <a:t>1. Resume Drift Across Disconnected Files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695F5A"/>
                </a:solidFill>
                <a:latin typeface="Calibri"/>
              </a:rPr>
              <a:t>Job seekers create separate Word/PDF documents for backend, devops, and data science roles. Updates in one file fail to sync, causing date and credential mismatches.</a:t>
            </a:r>
          </a:p>
          <a:p>
            <a:r>
              <a:rPr sz="1100" b="1">
                <a:solidFill>
                  <a:srgbClr val="2B2421"/>
                </a:solidFill>
                <a:latin typeface="Calibri"/>
              </a:rPr>
              <a:t>2. ATS Rejection &amp; Keyword Mismatch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695F5A"/>
                </a:solidFill>
                <a:latin typeface="Calibri"/>
              </a:rPr>
              <a:t>Applicant Tracking Systems scan for specific role keywords. Generic resumes fail threshold scores, while manual tailoring takes 30-45 minutes per job application.</a:t>
            </a:r>
          </a:p>
          <a:p>
            <a:r>
              <a:rPr sz="1100" b="1">
                <a:solidFill>
                  <a:srgbClr val="2B2421"/>
                </a:solidFill>
                <a:latin typeface="Calibri"/>
              </a:rPr>
              <a:t>3. Accidental Page Overflow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695F5A"/>
                </a:solidFill>
                <a:latin typeface="Calibri"/>
              </a:rPr>
              <a:t>Manual edits push single-page resumes onto an awkward second page with just 2-3 lines, violating the gold-standard 1-page recruiting guideline.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F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9FB8A6"/>
                </a:solidFill>
                <a:latin typeface="Georgia"/>
              </a:defRPr>
            </a:pPr>
            <a:r>
              <a:t>Operational Inefficiencies</a:t>
            </a:r>
          </a:p>
          <a:p>
            <a:r>
              <a:rPr sz="1200" b="1">
                <a:solidFill>
                  <a:srgbClr val="2B2421"/>
                </a:solidFill>
                <a:latin typeface="Calibri"/>
              </a:rPr>
              <a:t>75% of Resumes</a:t>
            </a:r>
          </a:p>
          <a:p>
            <a:pPr>
              <a:spcAft>
                <a:spcPts val="1000"/>
              </a:spcAft>
            </a:pPr>
            <a:r>
              <a:rPr sz="1000" b="0">
                <a:solidFill>
                  <a:srgbClr val="695F5A"/>
                </a:solidFill>
                <a:latin typeface="Calibri"/>
              </a:rPr>
              <a:t>Discarded automatically by enterprise ATS algorithms before reaching human recruiters due to layout and keyword issues.</a:t>
            </a:r>
          </a:p>
          <a:p>
            <a:r>
              <a:rPr sz="1200" b="1">
                <a:solidFill>
                  <a:srgbClr val="2B2421"/>
                </a:solidFill>
                <a:latin typeface="Calibri"/>
              </a:rPr>
              <a:t>30+ Minutes Wasted</a:t>
            </a:r>
          </a:p>
          <a:p>
            <a:pPr>
              <a:spcAft>
                <a:spcPts val="1000"/>
              </a:spcAft>
            </a:pPr>
            <a:r>
              <a:rPr sz="1000" b="0">
                <a:solidFill>
                  <a:srgbClr val="695F5A"/>
                </a:solidFill>
                <a:latin typeface="Calibri"/>
              </a:rPr>
              <a:t>Average time spent manually formatting, deleting bullets, and re-exporting PDFs for each distinct job submission.</a:t>
            </a:r>
          </a:p>
          <a:p>
            <a:r>
              <a:rPr sz="1200" b="1">
                <a:solidFill>
                  <a:srgbClr val="2B2421"/>
                </a:solidFill>
                <a:latin typeface="Calibri"/>
              </a:rPr>
              <a:t>Version Sprawl</a:t>
            </a:r>
          </a:p>
          <a:p>
            <a:pPr>
              <a:spcAft>
                <a:spcPts val="1000"/>
              </a:spcAft>
            </a:pPr>
            <a:r>
              <a:rPr sz="1000" b="0">
                <a:solidFill>
                  <a:srgbClr val="695F5A"/>
                </a:solidFill>
                <a:latin typeface="Calibri"/>
              </a:rPr>
              <a:t>Candidates typically accumulate 10-15 disjointed files (e.g. 'Resume_v2_final_final.pdf') with zero version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-457200"/>
            <a:ext cx="2011680" cy="2011680"/>
          </a:xfrm>
          <a:prstGeom prst="ellipse">
            <a:avLst/>
          </a:prstGeom>
          <a:solidFill>
            <a:srgbClr val="9F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47120" y="5760720"/>
            <a:ext cx="1371600" cy="1371600"/>
          </a:xfrm>
          <a:prstGeom prst="roundRect">
            <a:avLst/>
          </a:prstGeom>
          <a:solidFill>
            <a:srgbClr val="E5B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7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7A5B"/>
                </a:solidFill>
                <a:latin typeface="Calibri"/>
              </a:defRPr>
            </a:pPr>
            <a:r>
              <a:t>RESUME ENGINE - VIVA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2421"/>
                </a:solidFill>
                <a:latin typeface="Georgia"/>
              </a:defRPr>
            </a:pPr>
            <a:r>
              <a:t>Proposed Solution: The Resume Engine Paradigm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F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FB8A6"/>
                </a:solidFill>
                <a:latin typeface="Georgia"/>
              </a:defRPr>
            </a:pPr>
            <a:r>
              <a:t>Single Source of Truth</a:t>
            </a:r>
          </a:p>
          <a:p>
            <a:pPr>
              <a:spcAft>
                <a:spcPts val="1000"/>
              </a:spcAft>
              <a:defRPr sz="950" b="1">
                <a:solidFill>
                  <a:srgbClr val="695F5A"/>
                </a:solidFill>
                <a:latin typeface="Calibri"/>
              </a:defRPr>
            </a:pPr>
            <a:r>
              <a:t>Centralized YAML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2B2421"/>
                </a:solidFill>
                <a:latin typeface="Calibri"/>
              </a:rPr>
              <a:t>- Store all experiences, projects, skills, and honors in one structured YAML file (data/resume.yaml).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2B2421"/>
                </a:solidFill>
                <a:latin typeface="Calibri"/>
              </a:rPr>
              <a:t>- Eliminate multi-file divergence and copy-paste errors completely.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82880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7A5B"/>
                </a:solidFill>
                <a:latin typeface="Georgia"/>
              </a:defRPr>
            </a:pPr>
            <a:r>
              <a:t>Tag-Based Filtering</a:t>
            </a:r>
          </a:p>
          <a:p>
            <a:pPr>
              <a:spcAft>
                <a:spcPts val="1000"/>
              </a:spcAft>
              <a:defRPr sz="950" b="1">
                <a:solidFill>
                  <a:srgbClr val="695F5A"/>
                </a:solidFill>
                <a:latin typeface="Calibri"/>
              </a:defRPr>
            </a:pPr>
            <a:r>
              <a:t>Dynamic Extraction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2B2421"/>
                </a:solidFill>
                <a:latin typeface="Calibri"/>
              </a:rPr>
              <a:t>- Tag any bullet point, project, or skill with role identifiers (backend, devops, frontend, data-science).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2B2421"/>
                </a:solidFill>
                <a:latin typeface="Calibri"/>
              </a:rPr>
              <a:t>- Engine selectively extracts only the items relevant to the requested role.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B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182880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BE6C"/>
                </a:solidFill>
                <a:latin typeface="Georgia"/>
              </a:defRPr>
            </a:pPr>
            <a:r>
              <a:t>Deterministic Budget Caps</a:t>
            </a:r>
          </a:p>
          <a:p>
            <a:pPr>
              <a:spcAft>
                <a:spcPts val="1000"/>
              </a:spcAft>
              <a:defRPr sz="950" b="1">
                <a:solidFill>
                  <a:srgbClr val="695F5A"/>
                </a:solidFill>
                <a:latin typeface="Calibri"/>
              </a:defRPr>
            </a:pPr>
            <a:r>
              <a:t>Guaranteed 1-Page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2B2421"/>
                </a:solidFill>
                <a:latin typeface="Calibri"/>
              </a:rPr>
              <a:t>- Mathematical constraints enforce exact section budgets (max 4 bullets/job, 3 projects, 4 achievements).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2B2421"/>
                </a:solidFill>
                <a:latin typeface="Calibri"/>
              </a:rPr>
              <a:t>- Output is guaranteed to fit exactly on a single 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2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182880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B2421"/>
                </a:solidFill>
                <a:latin typeface="Georgia"/>
              </a:defRPr>
            </a:pPr>
            <a:r>
              <a:t>Local Dual Interface</a:t>
            </a:r>
          </a:p>
          <a:p>
            <a:pPr>
              <a:spcAft>
                <a:spcPts val="1000"/>
              </a:spcAft>
              <a:defRPr sz="950" b="1">
                <a:solidFill>
                  <a:srgbClr val="695F5A"/>
                </a:solidFill>
                <a:latin typeface="Calibri"/>
              </a:defRPr>
            </a:pPr>
            <a:r>
              <a:t>Fast CLI + Local Web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2B2421"/>
                </a:solidFill>
                <a:latin typeface="Calibri"/>
              </a:rPr>
              <a:t>- CLI tool for rapid terminal batch compilation with automated Git commits.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2B2421"/>
                </a:solidFill>
                <a:latin typeface="Calibri"/>
              </a:rPr>
              <a:t>- FastAPI local web studio at http://127.0.0.1:8000 for visual editing.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-457200"/>
            <a:ext cx="2011680" cy="2011680"/>
          </a:xfrm>
          <a:prstGeom prst="ellipse">
            <a:avLst/>
          </a:prstGeom>
          <a:solidFill>
            <a:srgbClr val="9F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47120" y="5760720"/>
            <a:ext cx="1371600" cy="1371600"/>
          </a:xfrm>
          <a:prstGeom prst="roundRect">
            <a:avLst/>
          </a:prstGeom>
          <a:solidFill>
            <a:srgbClr val="E5B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7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7A5B"/>
                </a:solidFill>
                <a:latin typeface="Calibri"/>
              </a:defRPr>
            </a:pPr>
            <a:r>
              <a:t>RESUME ENGINE - VIVA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2421"/>
                </a:solidFill>
                <a:latin typeface="Georgia"/>
              </a:defRPr>
            </a:pPr>
            <a:r>
              <a:t>System Architecture: Decoupled Multi-Layer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F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9FB8A6"/>
                </a:solidFill>
                <a:latin typeface="Georgia"/>
              </a:rPr>
              <a:t>Layer 1: Data Storage </a:t>
            </a:r>
            <a:r>
              <a:rPr sz="1000" b="1">
                <a:solidFill>
                  <a:srgbClr val="695F5A"/>
                </a:solidFill>
                <a:latin typeface="Calibri"/>
              </a:rPr>
              <a:t>[web/data_store.py]
</a:t>
            </a:r>
            <a:r>
              <a:rPr sz="1050" b="0">
                <a:solidFill>
                  <a:srgbClr val="2B2421"/>
                </a:solidFill>
                <a:latin typeface="Calibri"/>
              </a:rPr>
              <a:t>Safely reads data/resume.yaml. Automatically falls back to data/resume.example.yaml. Single choke-point for all disk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47A5B"/>
                </a:solidFill>
                <a:latin typeface="Georgia"/>
              </a:rPr>
              <a:t>Layer 2: Filter Engine </a:t>
            </a:r>
            <a:r>
              <a:rPr sz="1000" b="1">
                <a:solidFill>
                  <a:srgbClr val="695F5A"/>
                </a:solidFill>
                <a:latin typeface="Calibri"/>
              </a:rPr>
              <a:t>[filter_engine.py]
</a:t>
            </a:r>
            <a:r>
              <a:rPr sz="1050" b="0">
                <a:solidFill>
                  <a:srgbClr val="2B2421"/>
                </a:solidFill>
                <a:latin typeface="Calibri"/>
              </a:rPr>
              <a:t>Pure Python logic. Matches role tags, calculates priority scores, and enforces mathematical budget limits without touching UI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B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23359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5BE6C"/>
                </a:solidFill>
                <a:latin typeface="Georgia"/>
              </a:rPr>
              <a:t>Layer 3: PDF Renderer </a:t>
            </a:r>
            <a:r>
              <a:rPr sz="1000" b="1">
                <a:solidFill>
                  <a:srgbClr val="695F5A"/>
                </a:solidFill>
                <a:latin typeface="Calibri"/>
              </a:rPr>
              <a:t>[pdf_renderer.py]
</a:t>
            </a:r>
            <a:r>
              <a:rPr sz="1050" b="0">
                <a:solidFill>
                  <a:srgbClr val="2B2421"/>
                </a:solidFill>
                <a:latin typeface="Calibri"/>
              </a:rPr>
              <a:t>ReportLab 5.0 canvas engine. Computes typography, leading, dividers, and coordinates within strict 792pt vertical page boundaries.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7492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2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66359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B2421"/>
                </a:solidFill>
                <a:latin typeface="Georgia"/>
              </a:rPr>
              <a:t>Layer 4: Dual Interface </a:t>
            </a:r>
            <a:r>
              <a:rPr sz="1000" b="1">
                <a:solidFill>
                  <a:srgbClr val="695F5A"/>
                </a:solidFill>
                <a:latin typeface="Calibri"/>
              </a:rPr>
              <a:t>[CLI &amp; FastAPI Web]
</a:t>
            </a:r>
            <a:r>
              <a:rPr sz="1050" b="0">
                <a:solidFill>
                  <a:srgbClr val="2B2421"/>
                </a:solidFill>
                <a:latin typeface="Calibri"/>
              </a:rPr>
              <a:t>CLI (compile_resume.py) with Colorama &amp; Git integration + Local Web Studio (web/app.py) running on http://127.0.0.1:8000.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-457200"/>
            <a:ext cx="2011680" cy="2011680"/>
          </a:xfrm>
          <a:prstGeom prst="ellipse">
            <a:avLst/>
          </a:prstGeom>
          <a:solidFill>
            <a:srgbClr val="9F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47120" y="5760720"/>
            <a:ext cx="1371600" cy="1371600"/>
          </a:xfrm>
          <a:prstGeom prst="roundRect">
            <a:avLst/>
          </a:prstGeom>
          <a:solidFill>
            <a:srgbClr val="E5B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7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7A5B"/>
                </a:solidFill>
                <a:latin typeface="Calibri"/>
              </a:defRPr>
            </a:pPr>
            <a:r>
              <a:t>RESUME ENGINE - VIVA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2421"/>
                </a:solidFill>
                <a:latin typeface="Georgia"/>
              </a:defRPr>
            </a:pPr>
            <a:r>
              <a:t>Core Filter Engine: Tag Matching &amp; Priority Scoring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F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9FB8A6"/>
                </a:solidFill>
                <a:latin typeface="Georgia"/>
              </a:defRPr>
            </a:pPr>
            <a:r>
              <a:t>Tag Filtering Logic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Explicit Role Tagging: Items carry tags such as 'backend', 'frontend', 'devops', 'data-science'.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Universal 'general' Tag: Universal items carry the 'general' tag, ensuring they appear across all target resumes.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Role Isolation: Role-specific accomplishments are excluded from unrelated targets, maximizing ATS relevance score.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Zero Content Mutation: All operations occur on in-memory dictionary clones, preserving the master YAML file.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D47A5B"/>
                </a:solidFill>
                <a:latin typeface="Georgia"/>
              </a:defRPr>
            </a:pPr>
            <a:r>
              <a:t>Priority Ranking Engine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Integer Priority Field: Any bullet or project can have an optional 'priority: int' attribute (e.g. 10, 20, 50).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Stable Sorting: Items are ordered descending by priority, bubbling high-impact achievements to the top.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Deterministic Tie-Breaking: When priority values are equal, chronological and original document order is preserved.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Dynamic Relevance: Allows repositioning of high-value metrics based on current recruitment campaign focus.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-457200"/>
            <a:ext cx="2011680" cy="2011680"/>
          </a:xfrm>
          <a:prstGeom prst="ellipse">
            <a:avLst/>
          </a:prstGeom>
          <a:solidFill>
            <a:srgbClr val="9F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47120" y="5760720"/>
            <a:ext cx="1371600" cy="1371600"/>
          </a:xfrm>
          <a:prstGeom prst="roundRect">
            <a:avLst/>
          </a:prstGeom>
          <a:solidFill>
            <a:srgbClr val="E5B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7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7A5B"/>
                </a:solidFill>
                <a:latin typeface="Calibri"/>
              </a:defRPr>
            </a:pPr>
            <a:r>
              <a:t>RESUME ENGINE - VIVA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2421"/>
                </a:solidFill>
                <a:latin typeface="Georgia"/>
              </a:defRPr>
            </a:pPr>
            <a:r>
              <a:t>Page Budget Enforcement: Mathematical 1-Page Guarantee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F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FB8A6"/>
                </a:solidFill>
                <a:latin typeface="Georgia"/>
              </a:defRPr>
            </a:pPr>
            <a:r>
              <a:t>Experience Bullets</a:t>
            </a:r>
          </a:p>
          <a:p>
            <a:pPr>
              <a:spcAft>
                <a:spcPts val="1200"/>
              </a:spcAft>
              <a:defRPr sz="1100" b="1">
                <a:solidFill>
                  <a:srgbClr val="D47A5B"/>
                </a:solidFill>
                <a:latin typeface="Calibri"/>
              </a:defRPr>
            </a:pPr>
            <a:r>
              <a:t>Max 4 Bullets / Role</a:t>
            </a:r>
          </a:p>
          <a:p>
            <a:r>
              <a:rPr sz="1050" b="0">
                <a:solidFill>
                  <a:srgbClr val="2B2421"/>
                </a:solidFill>
                <a:latin typeface="Calibri"/>
              </a:rPr>
              <a:t>Prevents lengthy bullet sprawl for older positions. Focuses recruiter attention on key quantifiable achievements.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82880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7A5B"/>
                </a:solidFill>
                <a:latin typeface="Georgia"/>
              </a:defRPr>
            </a:pPr>
            <a:r>
              <a:t>Technical Projects</a:t>
            </a:r>
          </a:p>
          <a:p>
            <a:pPr>
              <a:spcAft>
                <a:spcPts val="1200"/>
              </a:spcAft>
              <a:defRPr sz="1100" b="1">
                <a:solidFill>
                  <a:srgbClr val="D47A5B"/>
                </a:solidFill>
                <a:latin typeface="Calibri"/>
              </a:defRPr>
            </a:pPr>
            <a:r>
              <a:t>Max 3 Top Projects</a:t>
            </a:r>
          </a:p>
          <a:p>
            <a:r>
              <a:rPr sz="1050" b="0">
                <a:solidFill>
                  <a:srgbClr val="2B2421"/>
                </a:solidFill>
                <a:latin typeface="Calibri"/>
              </a:rPr>
              <a:t>Limits projects section to the three most relevant implementations matching the target role.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B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182880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BE6C"/>
                </a:solidFill>
                <a:latin typeface="Georgia"/>
              </a:defRPr>
            </a:pPr>
            <a:r>
              <a:t>Key Achievements</a:t>
            </a:r>
          </a:p>
          <a:p>
            <a:pPr>
              <a:spcAft>
                <a:spcPts val="1200"/>
              </a:spcAft>
              <a:defRPr sz="1100" b="1">
                <a:solidFill>
                  <a:srgbClr val="D47A5B"/>
                </a:solidFill>
                <a:latin typeface="Calibri"/>
              </a:defRPr>
            </a:pPr>
            <a:r>
              <a:t>Max 4 Honors</a:t>
            </a:r>
          </a:p>
          <a:p>
            <a:r>
              <a:rPr sz="1050" b="0">
                <a:solidFill>
                  <a:srgbClr val="2B2421"/>
                </a:solidFill>
                <a:latin typeface="Calibri"/>
              </a:rPr>
              <a:t>Extracts top 4 competition awards, scholarships, or leadership honors based on priority score.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2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182880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B2421"/>
                </a:solidFill>
                <a:latin typeface="Georgia"/>
              </a:defRPr>
            </a:pPr>
            <a:r>
              <a:t>Relevant Coursework</a:t>
            </a:r>
          </a:p>
          <a:p>
            <a:pPr>
              <a:spcAft>
                <a:spcPts val="1200"/>
              </a:spcAft>
              <a:defRPr sz="1100" b="1">
                <a:solidFill>
                  <a:srgbClr val="D47A5B"/>
                </a:solidFill>
                <a:latin typeface="Calibri"/>
              </a:defRPr>
            </a:pPr>
            <a:r>
              <a:t>Max 6 Course Items</a:t>
            </a:r>
          </a:p>
          <a:p>
            <a:r>
              <a:rPr sz="1050" b="0">
                <a:solidFill>
                  <a:srgbClr val="2B2421"/>
                </a:solidFill>
                <a:latin typeface="Calibri"/>
              </a:rPr>
              <a:t>Caps university coursework entries in education to preserve vertical breathing room.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-457200"/>
            <a:ext cx="2011680" cy="2011680"/>
          </a:xfrm>
          <a:prstGeom prst="ellipse">
            <a:avLst/>
          </a:prstGeom>
          <a:solidFill>
            <a:srgbClr val="9F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47120" y="5760720"/>
            <a:ext cx="1371600" cy="1371600"/>
          </a:xfrm>
          <a:prstGeom prst="roundRect">
            <a:avLst/>
          </a:prstGeom>
          <a:solidFill>
            <a:srgbClr val="E5B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7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7A5B"/>
                </a:solidFill>
                <a:latin typeface="Calibri"/>
              </a:defRPr>
            </a:pPr>
            <a:r>
              <a:t>RESUME ENGINE - VIVA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2421"/>
                </a:solidFill>
                <a:latin typeface="Georgia"/>
              </a:defRPr>
            </a:pPr>
            <a:r>
              <a:t>ReportLab Typesetting Engine: Canvas Primitives &amp; Math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F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9FB8A6"/>
                </a:solidFill>
                <a:latin typeface="Georgia"/>
              </a:defRPr>
            </a:pPr>
            <a:r>
              <a:t>Vector Rendering Pipeline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Native PDF Bytecode: Direct vector rendering without browser overhead, chromium processes, or Node.js dependencies.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Execution Latency &lt; 250ms: Extremely lightweight rendering cycle suitable for instant web preview and high-throughput compilation.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Standardized Coordinate Geometry: Base canvas height of 792 points (11-inch Letter) with 36pt margins (0.5 inch).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Embedded ISO 32000-1 Metadata: Automated document title, author (Darshveer Singh), and creation timestamp for ATS readers.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B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B2421"/>
                </a:solidFill>
                <a:latin typeface="Georgia"/>
              </a:defRPr>
            </a:pPr>
            <a:r>
              <a:t>Typographic Architecture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Font Hierarchy: Standardized Helvetica and Helvetica-Bold scale (Header: 16pt, Subhead: 11pt, Body: 9.5pt).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Dynamic Leading Calculation: Proportional vertical spacing prevents line collisions while maximizing density.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Custom Section Dividers: Precise 0.5pt vector separator lines with custom RGB palette accents.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Two-Column Skill Grids: Automatic layout computation for skill categories and coursework entries.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-457200"/>
            <a:ext cx="2011680" cy="2011680"/>
          </a:xfrm>
          <a:prstGeom prst="ellipse">
            <a:avLst/>
          </a:prstGeom>
          <a:solidFill>
            <a:srgbClr val="9F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47120" y="5760720"/>
            <a:ext cx="1371600" cy="1371600"/>
          </a:xfrm>
          <a:prstGeom prst="roundRect">
            <a:avLst/>
          </a:prstGeom>
          <a:solidFill>
            <a:srgbClr val="E5B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7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7A5B"/>
                </a:solidFill>
                <a:latin typeface="Calibri"/>
              </a:defRPr>
            </a:pPr>
            <a:r>
              <a:t>RESUME ENGINE - VIVA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2421"/>
                </a:solidFill>
                <a:latin typeface="Georgia"/>
              </a:defRPr>
            </a:pPr>
            <a:r>
              <a:t>Local Web Studio: Interactive Browser-Based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134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F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9FB8A6"/>
                </a:solidFill>
                <a:latin typeface="Georgia"/>
              </a:defRPr>
            </a:pPr>
            <a:r>
              <a:t>FastAPI Backend</a:t>
            </a:r>
          </a:p>
          <a:p>
            <a:pPr>
              <a:spcAft>
                <a:spcPts val="1200"/>
              </a:spcAft>
              <a:defRPr sz="1000">
                <a:solidFill>
                  <a:srgbClr val="695F5A"/>
                </a:solidFill>
                <a:latin typeface="Calibri"/>
              </a:defRPr>
            </a:pPr>
            <a:r>
              <a:t>Asynchronous HTTP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Mounted at http://127.0.0.1:8000 on local loopback interface.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Complete data privacy with zero external transmission.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REST endpoints for loading, validating, and saving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134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47A5B"/>
                </a:solidFill>
                <a:latin typeface="Georgia"/>
              </a:defRPr>
            </a:pPr>
            <a:r>
              <a:t>Jinja2 Form Editor</a:t>
            </a:r>
          </a:p>
          <a:p>
            <a:pPr>
              <a:spcAft>
                <a:spcPts val="1200"/>
              </a:spcAft>
              <a:defRPr sz="1000">
                <a:solidFill>
                  <a:srgbClr val="695F5A"/>
                </a:solidFill>
                <a:latin typeface="Calibri"/>
              </a:defRPr>
            </a:pPr>
            <a:r>
              <a:t>Server-Side Templates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Structured forms for editing experience, projects, and skills.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Dynamic client-side addition and removal of bullet items.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Live validation feedback directly in the browser window.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134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B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5BE6C"/>
                </a:solidFill>
                <a:latin typeface="Georgia"/>
              </a:defRPr>
            </a:pPr>
            <a:r>
              <a:t>One-Click PDF Generator</a:t>
            </a:r>
          </a:p>
          <a:p>
            <a:pPr>
              <a:spcAft>
                <a:spcPts val="1200"/>
              </a:spcAft>
              <a:defRPr sz="1000">
                <a:solidFill>
                  <a:srgbClr val="695F5A"/>
                </a:solidFill>
                <a:latin typeface="Calibri"/>
              </a:defRPr>
            </a:pPr>
            <a:r>
              <a:t>Streaming Response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Role dropdown allows selecting target role (backend, frontend, etc.).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Streams compiled PDF binary directly to the browser for instant preview and download.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Zero temporary file accumulation on disk.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-457200"/>
            <a:ext cx="2011680" cy="2011680"/>
          </a:xfrm>
          <a:prstGeom prst="ellipse">
            <a:avLst/>
          </a:prstGeom>
          <a:solidFill>
            <a:srgbClr val="9F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47120" y="5760720"/>
            <a:ext cx="1371600" cy="1371600"/>
          </a:xfrm>
          <a:prstGeom prst="roundRect">
            <a:avLst/>
          </a:prstGeom>
          <a:solidFill>
            <a:srgbClr val="E5B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7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7A5B"/>
                </a:solidFill>
                <a:latin typeface="Calibri"/>
              </a:defRPr>
            </a:pPr>
            <a:r>
              <a:t>RESUME ENGINE - VIVA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2421"/>
                </a:solidFill>
                <a:latin typeface="Georgia"/>
              </a:defRPr>
            </a:pPr>
            <a:r>
              <a:t>Quality Assurance: 42 Automated Pytest Unit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F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9FB8A6"/>
                </a:solidFill>
                <a:latin typeface="Georgia"/>
              </a:defRPr>
            </a:pPr>
            <a:r>
              <a:t>Pytest Execution Results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- 100% Test Pass Rate: All 42 automated test cases pass in under 0.10s.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Filter Engine Suite: Tests tag matching, role isolation, and universal fallback rules.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Budget Cap Suite: Verifies truncation logic for experience bullets, projects, and honors.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Priority Sorting Suite: Confirms integer priority ranking and stable secondary sorting.</a:t>
            </a:r>
          </a:p>
          <a:p>
            <a:pPr>
              <a:spcAft>
                <a:spcPts val="800"/>
              </a:spcAft>
            </a:pPr>
            <a:r>
              <a:rPr sz="1050" b="0">
                <a:solidFill>
                  <a:srgbClr val="2B2421"/>
                </a:solidFill>
                <a:latin typeface="Calibri"/>
              </a:rPr>
              <a:t>- Edge Case Verification: Validates handling of missing fields, empty arrays, and special characters.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2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5BE6C"/>
                </a:solidFill>
                <a:latin typeface="Georgia"/>
              </a:defRPr>
            </a:pPr>
            <a:r>
              <a:t>Terminal Test Verification</a:t>
            </a:r>
          </a:p>
          <a:p>
            <a:r>
              <a:rPr sz="1000" b="0">
                <a:solidFill>
                  <a:srgbClr val="FFFFFF"/>
                </a:solidFill>
                <a:latin typeface="Consolas"/>
              </a:rPr>
              <a:t>$ pytest tests/test_filter_engine.py
</a:t>
            </a:r>
          </a:p>
          <a:p>
            <a:r>
              <a:rPr sz="950" b="0">
                <a:solidFill>
                  <a:srgbClr val="A0E6A0"/>
                </a:solidFill>
                <a:latin typeface="Consolas"/>
              </a:rPr>
              <a:t>platform win32 -- Python 3.14.7, pytest-9.1.1
rootdir: A:\projects\resume-engine
collected 42 items
tests/test_filter_engine.py ......................... [100%]
================ 42 passed in 0.08s ================
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-457200"/>
            <a:ext cx="2011680" cy="2011680"/>
          </a:xfrm>
          <a:prstGeom prst="ellipse">
            <a:avLst/>
          </a:prstGeom>
          <a:solidFill>
            <a:srgbClr val="9F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47120" y="5760720"/>
            <a:ext cx="1371600" cy="1371600"/>
          </a:xfrm>
          <a:prstGeom prst="roundRect">
            <a:avLst/>
          </a:prstGeom>
          <a:solidFill>
            <a:srgbClr val="E5B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7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7A5B"/>
                </a:solidFill>
                <a:latin typeface="Calibri"/>
              </a:defRPr>
            </a:pPr>
            <a:r>
              <a:t>RESUME ENGINE - VIVA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2421"/>
                </a:solidFill>
                <a:latin typeface="Georgia"/>
              </a:defRPr>
            </a:pPr>
            <a:r>
              <a:t>Local Execution Profile: Offline-First Operation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D47A5B"/>
                </a:solidFill>
                <a:latin typeface="Georgia"/>
              </a:defRPr>
            </a:pPr>
            <a:r>
              <a:t>Operational Workflow Summary</a:t>
            </a:r>
          </a:p>
          <a:p>
            <a:r>
              <a:rPr sz="1100" b="1">
                <a:solidFill>
                  <a:srgbClr val="2B2421"/>
                </a:solidFill>
                <a:latin typeface="Calibri"/>
              </a:rPr>
              <a:t>1. CLI Compilation: </a:t>
            </a:r>
            <a:r>
              <a:rPr sz="1050" b="0">
                <a:solidFill>
                  <a:srgbClr val="D47A5B"/>
                </a:solidFill>
                <a:latin typeface="Consolas"/>
              </a:rPr>
              <a:t>`python compile_resume.py --target backend`
</a:t>
            </a:r>
            <a:r>
              <a:rPr sz="1000" b="0">
                <a:solidFill>
                  <a:srgbClr val="695F5A"/>
                </a:solidFill>
                <a:latin typeface="Calibri"/>
              </a:rPr>
              <a:t>   Extracts backend items, renders output/resume_backend.pdf, and auto-commits to Git in 150ms.
</a:t>
            </a:r>
          </a:p>
          <a:p>
            <a:r>
              <a:rPr sz="1100" b="1">
                <a:solidFill>
                  <a:srgbClr val="2B2421"/>
                </a:solidFill>
                <a:latin typeface="Calibri"/>
              </a:rPr>
              <a:t>2. Role Audit Matrix: </a:t>
            </a:r>
            <a:r>
              <a:rPr sz="1050" b="0">
                <a:solidFill>
                  <a:srgbClr val="D47A5B"/>
                </a:solidFill>
                <a:latin typeface="Consolas"/>
              </a:rPr>
              <a:t>`python compile_resume.py --targets-report`
</a:t>
            </a:r>
            <a:r>
              <a:rPr sz="1000" b="0">
                <a:solidFill>
                  <a:srgbClr val="695F5A"/>
                </a:solidFill>
                <a:latin typeface="Calibri"/>
              </a:rPr>
              <a:t>   Prints a comprehensive terminal matrix showing bullet counts and skill allocations per target role.
</a:t>
            </a:r>
          </a:p>
          <a:p>
            <a:r>
              <a:rPr sz="1100" b="1">
                <a:solidFill>
                  <a:srgbClr val="2B2421"/>
                </a:solidFill>
                <a:latin typeface="Calibri"/>
              </a:rPr>
              <a:t>3. Local Web Server: </a:t>
            </a:r>
            <a:r>
              <a:rPr sz="1050" b="0">
                <a:solidFill>
                  <a:srgbClr val="D47A5B"/>
                </a:solidFill>
                <a:latin typeface="Consolas"/>
              </a:rPr>
              <a:t>`python run_web.py`
</a:t>
            </a:r>
            <a:r>
              <a:rPr sz="1000" b="0">
                <a:solidFill>
                  <a:srgbClr val="695F5A"/>
                </a:solidFill>
                <a:latin typeface="Calibri"/>
              </a:rPr>
              <a:t>   Starts the Uvicorn web server at http://127.0.0.1:8000 for browser-based interactive editing.
</a:t>
            </a:r>
          </a:p>
          <a:p>
            <a:r>
              <a:rPr sz="1100" b="1">
                <a:solidFill>
                  <a:srgbClr val="2B2421"/>
                </a:solidFill>
                <a:latin typeface="Calibri"/>
              </a:rPr>
              <a:t>4. Automated Unit Testing: </a:t>
            </a:r>
            <a:r>
              <a:rPr sz="1050" b="0">
                <a:solidFill>
                  <a:srgbClr val="D47A5B"/>
                </a:solidFill>
                <a:latin typeface="Consolas"/>
              </a:rPr>
              <a:t>`pytest`
</a:t>
            </a:r>
            <a:r>
              <a:rPr sz="1000" b="0">
                <a:solidFill>
                  <a:srgbClr val="695F5A"/>
                </a:solidFill>
                <a:latin typeface="Calibri"/>
              </a:rPr>
              <a:t>   Executes the 42 unit test cases to verify logic integrity before committing new features.
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-457200"/>
            <a:ext cx="2011680" cy="2011680"/>
          </a:xfrm>
          <a:prstGeom prst="ellipse">
            <a:avLst/>
          </a:prstGeom>
          <a:solidFill>
            <a:srgbClr val="9F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47120" y="5760720"/>
            <a:ext cx="1371600" cy="1371600"/>
          </a:xfrm>
          <a:prstGeom prst="roundRect">
            <a:avLst/>
          </a:prstGeom>
          <a:solidFill>
            <a:srgbClr val="E5B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7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7A5B"/>
                </a:solidFill>
                <a:latin typeface="Calibri"/>
              </a:defRPr>
            </a:pPr>
            <a:r>
              <a:t>RESUME ENGINE - VIVA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2421"/>
                </a:solidFill>
                <a:latin typeface="Georgia"/>
              </a:defRPr>
            </a:pPr>
            <a:r>
              <a:t>Engineering Challenges &amp; Resolved Technical Issues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134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47A5B"/>
                </a:solidFill>
                <a:latin typeface="Georgia"/>
              </a:defRPr>
            </a:pPr>
            <a:r>
              <a:t>Windows Console UTF-8 Encoding</a:t>
            </a:r>
          </a:p>
          <a:p>
            <a:r>
              <a:rPr sz="1000" b="1">
                <a:solidFill>
                  <a:srgbClr val="2B2421"/>
                </a:solidFill>
                <a:latin typeface="Calibri"/>
              </a:rPr>
              <a:t>Symptom: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695F5A"/>
                </a:solidFill>
                <a:latin typeface="Calibri"/>
              </a:rPr>
              <a:t>UnicodeEncodeError: 'charmap'</a:t>
            </a:r>
          </a:p>
          <a:p>
            <a:r>
              <a:rPr sz="1000" b="1">
                <a:solidFill>
                  <a:srgbClr val="2B2421"/>
                </a:solidFill>
                <a:latin typeface="Calibri"/>
              </a:rPr>
              <a:t>Root Cause: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695F5A"/>
                </a:solidFill>
                <a:latin typeface="Calibri"/>
              </a:rPr>
              <a:t>Windows command prompts default to cp1252, causing crashes when printing arrows and status symbols.</a:t>
            </a:r>
          </a:p>
          <a:p>
            <a:r>
              <a:rPr sz="1000" b="1">
                <a:solidFill>
                  <a:srgbClr val="2B2421"/>
                </a:solidFill>
                <a:latin typeface="Calibri"/>
              </a:rPr>
              <a:t>Resolved By: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695F5A"/>
                </a:solidFill>
                <a:latin typeface="Calibri"/>
              </a:rPr>
              <a:t>Reconfigured sys.stdout and sys.stderr with UTF-8 encoding streams in compile_resume.py.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134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F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9FB8A6"/>
                </a:solidFill>
                <a:latin typeface="Georgia"/>
              </a:defRPr>
            </a:pPr>
            <a:r>
              <a:t>ReportLab Canvas Boundary Limits</a:t>
            </a:r>
          </a:p>
          <a:p>
            <a:r>
              <a:rPr sz="1000" b="1">
                <a:solidFill>
                  <a:srgbClr val="2B2421"/>
                </a:solidFill>
                <a:latin typeface="Calibri"/>
              </a:rPr>
              <a:t>Symptom: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695F5A"/>
                </a:solidFill>
                <a:latin typeface="Calibri"/>
              </a:rPr>
              <a:t>Accidental Multi-Page Overflow</a:t>
            </a:r>
          </a:p>
          <a:p>
            <a:r>
              <a:rPr sz="1000" b="1">
                <a:solidFill>
                  <a:srgbClr val="2B2421"/>
                </a:solidFill>
                <a:latin typeface="Calibri"/>
              </a:rPr>
              <a:t>Root Cause: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695F5A"/>
                </a:solidFill>
                <a:latin typeface="Calibri"/>
              </a:rPr>
              <a:t>Unchecked paragraph expansions pushed text across the 792pt page height boundary.</a:t>
            </a:r>
          </a:p>
          <a:p>
            <a:r>
              <a:rPr sz="1000" b="1">
                <a:solidFill>
                  <a:srgbClr val="2B2421"/>
                </a:solidFill>
                <a:latin typeface="Calibri"/>
              </a:rPr>
              <a:t>Resolved By: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695F5A"/>
                </a:solidFill>
                <a:latin typeface="Calibri"/>
              </a:rPr>
              <a:t>Implemented mathematical section budgets and strict line height reservation algorithms.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134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B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47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5BE6C"/>
                </a:solidFill>
                <a:latin typeface="Georgia"/>
              </a:defRPr>
            </a:pPr>
            <a:r>
              <a:t>Data Store Seam Architecture</a:t>
            </a:r>
          </a:p>
          <a:p>
            <a:r>
              <a:rPr sz="1000" b="1">
                <a:solidFill>
                  <a:srgbClr val="2B2421"/>
                </a:solidFill>
                <a:latin typeface="Calibri"/>
              </a:rPr>
              <a:t>Symptom: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695F5A"/>
                </a:solidFill>
                <a:latin typeface="Calibri"/>
              </a:rPr>
              <a:t>Hardcoded File Path Coupling</a:t>
            </a:r>
          </a:p>
          <a:p>
            <a:r>
              <a:rPr sz="1000" b="1">
                <a:solidFill>
                  <a:srgbClr val="2B2421"/>
                </a:solidFill>
                <a:latin typeface="Calibri"/>
              </a:rPr>
              <a:t>Root Cause: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695F5A"/>
                </a:solidFill>
                <a:latin typeface="Calibri"/>
              </a:rPr>
              <a:t>Scattered open() calls would make future database transitions difficult.</a:t>
            </a:r>
          </a:p>
          <a:p>
            <a:r>
              <a:rPr sz="1000" b="1">
                <a:solidFill>
                  <a:srgbClr val="2B2421"/>
                </a:solidFill>
                <a:latin typeface="Calibri"/>
              </a:rPr>
              <a:t>Resolved By: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695F5A"/>
                </a:solidFill>
                <a:latin typeface="Calibri"/>
              </a:rPr>
              <a:t>Created web/data_store.py as a centralized choke-point with graceful fallback to demo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-457200"/>
            <a:ext cx="2011680" cy="2011680"/>
          </a:xfrm>
          <a:prstGeom prst="ellipse">
            <a:avLst/>
          </a:prstGeom>
          <a:solidFill>
            <a:srgbClr val="9F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47120" y="5760720"/>
            <a:ext cx="1371600" cy="1371600"/>
          </a:xfrm>
          <a:prstGeom prst="roundRect">
            <a:avLst/>
          </a:prstGeom>
          <a:solidFill>
            <a:srgbClr val="E5B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D47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7A5B"/>
                </a:solidFill>
                <a:latin typeface="Calibri"/>
              </a:defRPr>
            </a:pPr>
            <a:r>
              <a:t>RESUME ENGINE - VIVA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2421"/>
                </a:solidFill>
                <a:latin typeface="Georgia"/>
              </a:defRPr>
            </a:pPr>
            <a:r>
              <a:t>Learning Outcomes &amp; Industrial Competencies Acquired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F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1907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FB8A6"/>
                </a:solidFill>
                <a:latin typeface="Georgia"/>
              </a:rPr>
              <a:t>Production Python Engineering: </a:t>
            </a:r>
            <a:r>
              <a:rPr sz="1050" b="0">
                <a:solidFill>
                  <a:srgbClr val="2B2421"/>
                </a:solidFill>
                <a:latin typeface="Calibri"/>
              </a:rPr>
              <a:t>Mastered PEP 484 type annotations, Pydantic v2 schemas, and pathlib file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728655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3347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47A5B"/>
                </a:solidFill>
                <a:latin typeface="Georgia"/>
              </a:rPr>
              <a:t>Document Automation &amp; PDF Math: </a:t>
            </a:r>
            <a:r>
              <a:rPr sz="1050" b="0">
                <a:solidFill>
                  <a:srgbClr val="2B2421"/>
                </a:solidFill>
                <a:latin typeface="Calibri"/>
              </a:rPr>
              <a:t>Gained deep expertise in ReportLab PostScript coordinates, typographic leading, and PDF bytecode.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10728655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B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4787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5BE6C"/>
                </a:solidFill>
                <a:latin typeface="Georgia"/>
              </a:rPr>
              <a:t>Asynchronous Web Development: </a:t>
            </a:r>
            <a:r>
              <a:rPr sz="1050" b="0">
                <a:solidFill>
                  <a:srgbClr val="2B2421"/>
                </a:solidFill>
                <a:latin typeface="Calibri"/>
              </a:rPr>
              <a:t>Developed and deployed local FastAPI/Uvicorn applications with server-side Jinja2 form integration.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728655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2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B2421"/>
                </a:solidFill>
                <a:latin typeface="Georgia"/>
              </a:rPr>
              <a:t>Automated Quality Assurance: </a:t>
            </a:r>
            <a:r>
              <a:rPr sz="1050" b="0">
                <a:solidFill>
                  <a:srgbClr val="2B2421"/>
                </a:solidFill>
                <a:latin typeface="Calibri"/>
              </a:rPr>
              <a:t>Wrote comprehensive Pytest test suites achieving 100% test pass rate across all system modules.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728655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F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7667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FB8A6"/>
                </a:solidFill>
                <a:latin typeface="Georgia"/>
              </a:rPr>
              <a:t>ATS Recruitment Architecture: </a:t>
            </a:r>
            <a:r>
              <a:rPr sz="1050" b="0">
                <a:solidFill>
                  <a:srgbClr val="2B2421"/>
                </a:solidFill>
                <a:latin typeface="Calibri"/>
              </a:rPr>
              <a:t>Understood enterprise resume filtering algorithms, keyword density strategies, and recruiter heuristics.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0" y="0"/>
            <a:ext cx="3962095" cy="6858000"/>
          </a:xfrm>
          <a:prstGeom prst="roundRect">
            <a:avLst/>
          </a:prstGeom>
          <a:solidFill>
            <a:srgbClr val="9F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8-Point Star 3"/>
          <p:cNvSpPr/>
          <p:nvPr/>
        </p:nvSpPr>
        <p:spPr>
          <a:xfrm>
            <a:off x="8961120" y="1097280"/>
            <a:ext cx="2011680" cy="2011680"/>
          </a:xfrm>
          <a:prstGeom prst="star8">
            <a:avLst/>
          </a:prstGeom>
          <a:solidFill>
            <a:srgbClr val="D47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6880" y="3840480"/>
            <a:ext cx="2011680" cy="2194560"/>
          </a:xfrm>
          <a:prstGeom prst="roundRect">
            <a:avLst/>
          </a:prstGeom>
          <a:solidFill>
            <a:srgbClr val="E5B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B2421"/>
                </a:solidFill>
                <a:latin typeface="Georgia"/>
              </a:defRPr>
            </a:pPr>
            <a:r>
              <a:t>Thank You</a:t>
            </a:r>
          </a:p>
          <a:p>
            <a:pPr>
              <a:defRPr sz="1800">
                <a:solidFill>
                  <a:srgbClr val="D47A5B"/>
                </a:solidFill>
                <a:latin typeface="Georgia"/>
              </a:defRPr>
            </a:pPr>
            <a:r>
              <a:t>Resume Engine Project Defense | Questions &amp; Answers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71323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F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6766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2B2421"/>
                </a:solidFill>
                <a:latin typeface="Calibri"/>
              </a:rPr>
              <a:t>Candidate Name: </a:t>
            </a:r>
            <a:r>
              <a:rPr sz="1000" b="0">
                <a:solidFill>
                  <a:srgbClr val="695F5A"/>
                </a:solidFill>
                <a:latin typeface="Calibri"/>
              </a:rPr>
              <a:t>Darshveer Singh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B2421"/>
                </a:solidFill>
                <a:latin typeface="Calibri"/>
              </a:rPr>
              <a:t>University Roll Number: </a:t>
            </a:r>
            <a:r>
              <a:rPr sz="1000" b="0">
                <a:solidFill>
                  <a:srgbClr val="695F5A"/>
                </a:solidFill>
                <a:latin typeface="Calibri"/>
              </a:rPr>
              <a:t>2449377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B2421"/>
                </a:solidFill>
                <a:latin typeface="Calibri"/>
              </a:rPr>
              <a:t>Degree &amp; Branch: </a:t>
            </a:r>
            <a:r>
              <a:rPr sz="1000" b="0">
                <a:solidFill>
                  <a:srgbClr val="695F5A"/>
                </a:solidFill>
                <a:latin typeface="Calibri"/>
              </a:rPr>
              <a:t>B.Tech Computer Science &amp; Engineering (AI &amp; ML)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B2421"/>
                </a:solidFill>
                <a:latin typeface="Calibri"/>
              </a:rPr>
              <a:t>Institution: </a:t>
            </a:r>
            <a:r>
              <a:rPr sz="1000" b="0">
                <a:solidFill>
                  <a:srgbClr val="695F5A"/>
                </a:solidFill>
                <a:latin typeface="Calibri"/>
              </a:rPr>
              <a:t>Rayat Bahra Institute of Engineering &amp; Nanotechnology, Hoshiarpur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B2421"/>
                </a:solidFill>
                <a:latin typeface="Calibri"/>
              </a:rPr>
              <a:t>Training Organisation: </a:t>
            </a:r>
            <a:r>
              <a:rPr sz="1000" b="0">
                <a:solidFill>
                  <a:srgbClr val="695F5A"/>
                </a:solidFill>
                <a:latin typeface="Calibri"/>
              </a:rPr>
              <a:t>Mits Academy | Mentor: Srishti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B2421"/>
                </a:solidFill>
                <a:latin typeface="Calibri"/>
              </a:rPr>
              <a:t>GitHub Repository: </a:t>
            </a:r>
            <a:r>
              <a:rPr sz="1000" b="0">
                <a:solidFill>
                  <a:srgbClr val="D47A5B"/>
                </a:solidFill>
                <a:latin typeface="Calibri"/>
              </a:rPr>
              <a:t>https://github.com/Darsh505/resume-engine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B2421"/>
                </a:solidFill>
                <a:latin typeface="Calibri"/>
              </a:rPr>
              <a:t>Local Host Endpoint: </a:t>
            </a:r>
            <a:r>
              <a:rPr sz="1000" b="0">
                <a:solidFill>
                  <a:srgbClr val="D47A5B"/>
                </a:solidFill>
                <a:latin typeface="Calibri"/>
              </a:rPr>
              <a:t>http://127.0.0.1:8000 (Offline-First Architecture)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