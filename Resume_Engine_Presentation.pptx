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1: Title</a:t>
            </a:r>
          </a:p>
          <a:p/>
          <a:p>
            <a:r>
              <a:t>WHAT TO SAY:</a:t>
            </a:r>
          </a:p>
          <a:p>
            <a:r>
              <a:t>Good [morning/afternoon]. My name is [Name] and today I'll be presenting Resume Engine — a Git-driven, </a:t>
            </a:r>
          </a:p>
          <a:p>
            <a:r>
              <a:t>tag-based resume compilation engine I built as part of my Summer Training Project.</a:t>
            </a:r>
          </a:p>
          <a:p/>
          <a:p>
            <a:r>
              <a:t>The core idea is simple: instead of maintaining multiple hand-edited resume files for different job roles, </a:t>
            </a:r>
          </a:p>
          <a:p>
            <a:r>
              <a:t>you maintain one YAML file containing your entire career history. You tag every item — every bullet point, </a:t>
            </a:r>
          </a:p>
          <a:p>
            <a:r>
              <a:t>every project, every skill — with the roles it's relevant to. Then you run one command to generate a </a:t>
            </a:r>
          </a:p>
          <a:p>
            <a:r>
              <a:t>perfectly tailored, one-page PDF resume for any target role, automatically.</a:t>
            </a:r>
          </a:p>
          <a:p/>
          <a:p>
            <a:r>
              <a:t>TALKING POINTS:</a:t>
            </a:r>
          </a:p>
          <a:p>
            <a:r>
              <a:t>• This is a real, working software project — not a prototype. It has ~40 unit tests, GitHub Actions CI, </a:t>
            </a:r>
          </a:p>
          <a:p>
            <a:r>
              <a:t>  and two complete frontends: a CLI and a local web UI.</a:t>
            </a:r>
          </a:p>
          <a:p>
            <a:r>
              <a:t>• The project solves a problem every job seeker faces — the pain of resume customization.</a:t>
            </a:r>
          </a:p>
          <a:p>
            <a:r>
              <a:t>• The title color scheme (#0D1117 background, #2563EB accent) is intentional — it mirrors the actual </a:t>
            </a:r>
          </a:p>
          <a:p>
            <a:r>
              <a:t>  product's own web UI color scheme.</a:t>
            </a:r>
          </a:p>
          <a:p/>
          <a:p>
            <a:r>
              <a:t>EXPECTED FACULTY QUESTIONS:</a:t>
            </a:r>
          </a:p>
          <a:p>
            <a:r>
              <a:t>Q: What inspired this project?</a:t>
            </a:r>
          </a:p>
          <a:p>
            <a:r>
              <a:t>A: I noticed I was spending hours copying and pasting resume sections for different job applications </a:t>
            </a:r>
          </a:p>
          <a:p>
            <a:r>
              <a:t>   and often making them inconsistent. A single source of truth with automatic filtering was the natural solution.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2: Problem Statement</a:t>
            </a:r>
          </a:p>
          <a:p/>
          <a:p>
            <a:r>
              <a:t>WHAT TO SAY:</a:t>
            </a:r>
          </a:p>
          <a:p>
            <a:r>
              <a:t>Let me start with the problem. Anyone who has applied to multiple roles knows this pain well.</a:t>
            </a:r>
          </a:p>
          <a:p/>
          <a:p>
            <a:r>
              <a:t>[Walk through each card]:</a:t>
            </a:r>
          </a:p>
          <a:p>
            <a:r>
              <a:t>1. REPETITIVE WORK: Every time you apply to a different role, you're manually editing the same resume — </a:t>
            </a:r>
          </a:p>
          <a:p>
            <a:r>
              <a:t>   copying sections, tweaking wording, adding/removing content. It's tedious and error-prone.</a:t>
            </a:r>
          </a:p>
          <a:p>
            <a:r>
              <a:t>2. ROLE-SPECIFIC EMPHASIS: A backend engineer and a data scientist have completely different priorities. </a:t>
            </a:r>
          </a:p>
          <a:p>
            <a:r>
              <a:t>   A generic resume that tries to cover both ends up being mediocre at communicating either.</a:t>
            </a:r>
          </a:p>
          <a:p>
            <a:r>
              <a:t>3. VERSION DRIFT: The moment you have more than one resume file, they start diverging. A job history </a:t>
            </a:r>
          </a:p>
          <a:p>
            <a:r>
              <a:t>   update in one file gets missed in another. You end up applying with stale information.</a:t>
            </a:r>
          </a:p>
          <a:p>
            <a:r>
              <a:t>4. NO SOURCE OF TRUTH: There's no canonical record. Your resume lives in fragments across multiple files.</a:t>
            </a:r>
          </a:p>
          <a:p/>
          <a:p>
            <a:r>
              <a:t>The conclusion: we need a system where career history is written once, and role-specific resumes </a:t>
            </a:r>
          </a:p>
          <a:p>
            <a:r>
              <a:t>are generated automatically.</a:t>
            </a:r>
          </a:p>
          <a:p/>
          <a:p>
            <a:r>
              <a:t>EXPECTED FACULTY QUESTIONS:</a:t>
            </a:r>
          </a:p>
          <a:p>
            <a:r>
              <a:t>Q: Isn't this problem solved by LinkedIn or other tools?</a:t>
            </a:r>
          </a:p>
          <a:p>
            <a:r>
              <a:t>A: LinkedIn is a profile, not a formatted PDF resume. Most companies still expect a precisely-formatted </a:t>
            </a:r>
          </a:p>
          <a:p>
            <a:r>
              <a:t>   one-page PDF, and LinkedIn's export is not suitable. Resume Engine gives you precise PDF control.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3: Project Overview</a:t>
            </a:r>
          </a:p>
          <a:p/>
          <a:p>
            <a:r>
              <a:t>WHAT TO SAY:</a:t>
            </a:r>
          </a:p>
          <a:p>
            <a:r>
              <a:t>Resume Engine is built around a simple but powerful idea: you write your career history once in a </a:t>
            </a:r>
          </a:p>
          <a:p>
            <a:r>
              <a:t>tagged YAML file, and the engine does all the heavy lifting of filtering, ranking, and formatting.</a:t>
            </a:r>
          </a:p>
          <a:p/>
          <a:p>
            <a:r>
              <a:t>Walk the audience through the data flow:</a:t>
            </a:r>
          </a:p>
          <a:p>
            <a:r>
              <a:t>1. Everything starts with the Tagged Master YAML — one file containing ALL your jobs, projects, </a:t>
            </a:r>
          </a:p>
          <a:p>
            <a:r>
              <a:t>   skills, achievements, each tagged with the roles they're relevant to.</a:t>
            </a:r>
          </a:p>
          <a:p>
            <a:r>
              <a:t>2. The Filter Engine processes this YAML: it keeps only items matching your target role (or tagged </a:t>
            </a:r>
          </a:p>
          <a:p>
            <a:r>
              <a:t>   "general" for universal items), ranks them by relevance and an optional priority field, and enforces </a:t>
            </a:r>
          </a:p>
          <a:p>
            <a:r>
              <a:t>   section budgets so the output reliably fits one page.</a:t>
            </a:r>
          </a:p>
          <a:p>
            <a:r>
              <a:t>3. The ReportLab PDF Renderer takes the filtered data and draws directly onto a PDF canvas — no browser, </a:t>
            </a:r>
          </a:p>
          <a:p>
            <a:r>
              <a:t>   no HTML, no external tools required.</a:t>
            </a:r>
          </a:p>
          <a:p>
            <a:r>
              <a:t>4. The result: a clean, one-page PDF perfectly tailored to your target role.</a:t>
            </a:r>
          </a:p>
          <a:p/>
          <a:p>
            <a:r>
              <a:t>There are TWO ways to use the engine:</a:t>
            </a:r>
          </a:p>
          <a:p>
            <a:r>
              <a:t>- The CLI for quick command-line compilation</a:t>
            </a:r>
          </a:p>
          <a:p>
            <a:r>
              <a:t>- The Web UI for a browser-based edit-and-generate workflow</a:t>
            </a:r>
          </a:p>
          <a:p/>
          <a:p>
            <a:r>
              <a:t>Both frontends share the SAME core engine — no duplicated logic. That's a key architectural decision.</a:t>
            </a:r>
          </a:p>
          <a:p/>
          <a:p>
            <a:r>
              <a:t>EXPECTED FACULTY QUESTIONS:</a:t>
            </a:r>
          </a:p>
          <a:p>
            <a:r>
              <a:t>Q: What's a YAML file?</a:t>
            </a:r>
          </a:p>
          <a:p>
            <a:r>
              <a:t>A: YAML is a human-friendly data format, similar to JSON but much more readable. It's the same format </a:t>
            </a:r>
          </a:p>
          <a:p>
            <a:r>
              <a:t>   used by tools like Docker Compose and GitHub Actions.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4: Key Features</a:t>
            </a:r>
          </a:p>
          <a:p/>
          <a:p>
            <a:r>
              <a:t>WHAT TO SAY:</a:t>
            </a:r>
          </a:p>
          <a:p>
            <a:r>
              <a:t>These are the eight core features that are FULLY IMPLEMENTED and working. I'll call out a few key ones:</a:t>
            </a:r>
          </a:p>
          <a:p/>
          <a:p>
            <a:r>
              <a:t>TAG-BASED FILTERING: This is the heart of the system. Every item in your YAML carries a "tags" list. </a:t>
            </a:r>
          </a:p>
          <a:p>
            <a:r>
              <a:t>The engine keeps items tagged for your target role, plus anything tagged "general" (universal items).</a:t>
            </a:r>
          </a:p>
          <a:p/>
          <a:p>
            <a:r>
              <a:t>PRIORITY RANKING: This is a thoughtful UX addition — you can add priority: 2 to a bullet point to force </a:t>
            </a:r>
          </a:p>
          <a:p>
            <a:r>
              <a:t>it to the top of a section, regardless of relevance score. Completely optional.</a:t>
            </a:r>
          </a:p>
          <a:p/>
          <a:p>
            <a:r>
              <a:t>SECTION BUDGETING: Hard numerical caps — 4 bullets per job, max 3 projects, etc. This is what guarantees </a:t>
            </a:r>
          </a:p>
          <a:p>
            <a:r>
              <a:t>the one-page output. It's enforced in apply_budget() in filter_engine.py.</a:t>
            </a:r>
          </a:p>
          <a:p/>
          <a:p>
            <a:r>
              <a:t>GIT AUTO-COMMIT: Every time you generate a PDF, the engine can auto-commit it to your git history. </a:t>
            </a:r>
          </a:p>
          <a:p>
            <a:r>
              <a:t>This gives you a version trail of your resume changes over time. There's a safety: if the PDF is </a:t>
            </a:r>
          </a:p>
          <a:p>
            <a:r>
              <a:t>gitignored (e.g., in the output/ directory), the commit is silently skipped.</a:t>
            </a:r>
          </a:p>
          <a:p/>
          <a:p>
            <a:r>
              <a:t>~40 TESTS: These tests cover the filtering, ranking, and budget logic comprehensively with edge cases </a:t>
            </a:r>
          </a:p>
          <a:p>
            <a:r>
              <a:t>like empty lists, missing tags, and unknown targets.</a:t>
            </a:r>
          </a:p>
          <a:p/>
          <a:p>
            <a:r>
              <a:t>IMPORTANT HONESTY NOTE: The web UI has a "Theme" dropdown that says "Coming Soon" — the renderer </a:t>
            </a:r>
          </a:p>
          <a:p>
            <a:r>
              <a:t>currently has one fixed design. Multiple themes are on the roadmap. I'll cover this on the Future Scope slide.</a:t>
            </a:r>
          </a:p>
          <a:p/>
          <a:p>
            <a:r>
              <a:t>EXPECTED FACULTY QUESTIONS:</a:t>
            </a:r>
          </a:p>
          <a:p>
            <a:r>
              <a:t>Q: What does "general" tag mean?</a:t>
            </a:r>
          </a:p>
          <a:p>
            <a:r>
              <a:t>A: Items tagged "general" appear in ALL target resumes — things like your contact info, or a skill </a:t>
            </a:r>
          </a:p>
          <a:p>
            <a:r>
              <a:t>   that's relevant to every role you'd apply to.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5: Technology Stack</a:t>
            </a:r>
          </a:p>
          <a:p/>
          <a:p>
            <a:r>
              <a:t>WHAT TO SAY:</a:t>
            </a:r>
          </a:p>
          <a:p>
            <a:r>
              <a:t>The tech stack was chosen for pragmatism and minimal external dependencies.</a:t>
            </a:r>
          </a:p>
          <a:p/>
          <a:p>
            <a:r>
              <a:t>Let me highlight the key choices:</a:t>
            </a:r>
          </a:p>
          <a:p/>
          <a:p>
            <a:r>
              <a:t>PYTHON 3.12: The CI config explicitly pins Python 3.12, so this is precise, not approximate.</a:t>
            </a:r>
          </a:p>
          <a:p/>
          <a:p>
            <a:r>
              <a:t>REPORTLAB: This is the most unusual choice — most people would reach for an HTML renderer. </a:t>
            </a:r>
          </a:p>
          <a:p>
            <a:r>
              <a:t>I chose ReportLab because it has zero external dependencies (no browser, no wkhtmltopdf). </a:t>
            </a:r>
          </a:p>
          <a:p>
            <a:r>
              <a:t>The tradeoff is that layout control requires explicit coordinate-based drawing, which was a </a:t>
            </a:r>
          </a:p>
          <a:p>
            <a:r>
              <a:t>genuine engineering challenge — but it makes the system much easier to deploy.</a:t>
            </a:r>
          </a:p>
          <a:p/>
          <a:p>
            <a:r>
              <a:t>FASTAPI: A modern, async Python web framework with automatic API documentation. Much faster and </a:t>
            </a:r>
          </a:p>
          <a:p>
            <a:r>
              <a:t>cleaner than Flask for this use case, especially with Pydantic integration.</a:t>
            </a:r>
          </a:p>
          <a:p/>
          <a:p>
            <a:r>
              <a:t>PYDANTIC: Critically, Pydantic validation only happens on the WEB EDITOR's save path. The CLI </a:t>
            </a:r>
          </a:p>
          <a:p>
            <a:r>
              <a:t>compile path works with plain Python dicts throughout — this is an important architectural detail.</a:t>
            </a:r>
          </a:p>
          <a:p/>
          <a:p>
            <a:r>
              <a:t>NO FRONTEND FRAMEWORK: The web UI is plain HTML/CSS/JavaScript — no React, no Vue. This was </a:t>
            </a:r>
          </a:p>
          <a:p>
            <a:r>
              <a:t>a deliberate choice to keep the project focused on the backend engineering problem.</a:t>
            </a:r>
          </a:p>
          <a:p/>
          <a:p>
            <a:r>
              <a:t>EXPECTED FACULTY QUESTIONS:</a:t>
            </a:r>
          </a:p>
          <a:p>
            <a:r>
              <a:t>Q: Why not use a database?</a:t>
            </a:r>
          </a:p>
          <a:p>
            <a:r>
              <a:t>A: The project's data model is a single user's career history — a YAML file is perfectly appropriate </a:t>
            </a:r>
          </a:p>
          <a:p>
            <a:r>
              <a:t>   for this. A database would add complexity with no benefit. It IS a future roadmap item if </a:t>
            </a:r>
          </a:p>
          <a:p>
            <a:r>
              <a:t>   multi-user support were ever added.</a:t>
            </a:r>
          </a:p>
          <a:p/>
          <a:p>
            <a:r>
              <a:t>Q: Why Python and not something faster?</a:t>
            </a:r>
          </a:p>
          <a:p>
            <a:r>
              <a:t>A: PDF generation is I/O bound, not compute bound. Python's ecosystem (ReportLab, FastAPI, GitPython) </a:t>
            </a:r>
          </a:p>
          <a:p>
            <a:r>
              <a:t>   is exactly right for this type of document-generation tool.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6: High-Level Architecture</a:t>
            </a:r>
          </a:p>
          <a:p/>
          <a:p>
            <a:r>
              <a:t>WHAT TO SAY:</a:t>
            </a:r>
          </a:p>
          <a:p>
            <a:r>
              <a:t>This is the most important architectural slide. The key insight is the two-frontend, one-core design.</a:t>
            </a:r>
          </a:p>
          <a:p/>
          <a:p>
            <a:r>
              <a:t>On the LEFT are the two entry points: the CLI (compile_resume.py) and the Web UI (web/app.py).</a:t>
            </a:r>
          </a:p>
          <a:p>
            <a:r>
              <a:t>In the MIDDLE is the shared core: filter_engine, pdf_renderer, and git_utils.</a:t>
            </a:r>
          </a:p>
          <a:p>
            <a:r>
              <a:t>On the RIGHT is the output: the generated PDF.</a:t>
            </a:r>
          </a:p>
          <a:p/>
          <a:p>
            <a:r>
              <a:t>The CRITICAL POINT to emphasize:</a:t>
            </a:r>
          </a:p>
          <a:p>
            <a:r>
              <a:t>Both frontends — the CLI and the web UI — call the EXACT SAME filter_engine.py and pdf_renderer.py. </a:t>
            </a:r>
          </a:p>
          <a:p>
            <a:r>
              <a:t>There is zero duplication of the core logic. This is a genuine separation-of-concerns decision.</a:t>
            </a:r>
          </a:p>
          <a:p/>
          <a:p>
            <a:r>
              <a:t>What this means in practice:</a:t>
            </a:r>
          </a:p>
          <a:p>
            <a:r>
              <a:t>• A bug fix in filter_engine.py benefits both the CLI and the Web UI simultaneously.</a:t>
            </a:r>
          </a:p>
          <a:p>
            <a:r>
              <a:t>• Adding a new feature to the renderer automatically works in both frontends.</a:t>
            </a:r>
          </a:p>
          <a:p>
            <a:r>
              <a:t>• The core is independently testable — and it IS independently tested with ~40 unit tests.</a:t>
            </a:r>
          </a:p>
          <a:p/>
          <a:p>
            <a:r>
              <a:t>The git_utils module is optional — it only runs when requested via the --push flag or web UI checkbox.</a:t>
            </a:r>
          </a:p>
          <a:p/>
          <a:p>
            <a:r>
              <a:t>EXPECTED FACULTY QUESTIONS:</a:t>
            </a:r>
          </a:p>
          <a:p>
            <a:r>
              <a:t>Q: Why separate the CLI and Web UI instead of just having one interface?</a:t>
            </a:r>
          </a:p>
          <a:p>
            <a:r>
              <a:t>A: Different use cases. The CLI is faster for developers who know what target they want. </a:t>
            </a:r>
          </a:p>
          <a:p>
            <a:r>
              <a:t>   The Web UI is better for editing resume data and for users who prefer a visual interface. </a:t>
            </a:r>
          </a:p>
          <a:p>
            <a:r>
              <a:t>   The shared core means building both doesn't cost much — the hard work is in the core.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7: Module Architecture</a:t>
            </a:r>
          </a:p>
          <a:p/>
          <a:p>
            <a:r>
              <a:t>WHAT TO SAY:</a:t>
            </a:r>
          </a:p>
          <a:p>
            <a:r>
              <a:t>Let me walk through the module layers from top to bottom.</a:t>
            </a:r>
          </a:p>
          <a:p/>
          <a:p>
            <a:r>
              <a:t>PRESENTATION LAYER: Two entry points. compile_resume.py handles the CLI with argparse, colorama </a:t>
            </a:r>
          </a:p>
          <a:p>
            <a:r>
              <a:t>for colored output, and implements flags like --target, --output, --push, --preview, </a:t>
            </a:r>
          </a:p>
          <a:p>
            <a:r>
              <a:t>--list-targets, and --targets-report. web/app.py is the FastAPI application with five routes.</a:t>
            </a:r>
          </a:p>
          <a:p/>
          <a:p>
            <a:r>
              <a:t>WEB-ONLY LAYER (right side): Three modules that are ONLY used in the web path:</a:t>
            </a:r>
          </a:p>
          <a:p>
            <a:r>
              <a:t>- web/models.py: Pydantic schemas that validate data when you save through the web editor.</a:t>
            </a:r>
          </a:p>
          <a:p>
            <a:r>
              <a:t>- web/data_store.py: A single choke-point for all YAML file I/O — this is a clean design </a:t>
            </a:r>
          </a:p>
          <a:p>
            <a:r>
              <a:t>  that prevents scattered file access across the web layer.</a:t>
            </a:r>
          </a:p>
          <a:p>
            <a:r>
              <a:t>- Templates and static files: Jinja2 HTML with a dark-theme CSS and vanilla JavaScript.</a:t>
            </a:r>
          </a:p>
          <a:p/>
          <a:p>
            <a:r>
              <a:t>CORE ENGINE (bottom): The two workhorse modules that both frontends share:</a:t>
            </a:r>
          </a:p>
          <a:p>
            <a:r>
              <a:t>- filter_engine.py: Pure functions — load, filter, rank, budget, assemble. No side effects.</a:t>
            </a:r>
          </a:p>
          <a:p>
            <a:r>
              <a:t>- pdf_renderer.py: A Renderer class that draws directly onto a ReportLab canvas.</a:t>
            </a:r>
          </a:p>
          <a:p/>
          <a:p>
            <a:r>
              <a:t>IMPORTANT CLARIFICATION: Pydantic validation happens ONLY in the web save path. The CLI compile </a:t>
            </a:r>
          </a:p>
          <a:p>
            <a:r>
              <a:t>path never goes through Pydantic — data stays as plain Python dicts, accessed with .get() and defaults.</a:t>
            </a:r>
          </a:p>
          <a:p/>
          <a:p>
            <a:r>
              <a:t>EXPECTED FACULTY QUESTIONS:</a:t>
            </a:r>
          </a:p>
          <a:p>
            <a:r>
              <a:t>Q: Why is web/data_store.py a separate module?</a:t>
            </a:r>
          </a:p>
          <a:p>
            <a:r>
              <a:t>A: Single responsibility principle. Centralizing all YAML I/O in one module means if we ever need </a:t>
            </a:r>
          </a:p>
          <a:p>
            <a:r>
              <a:t>   to change the storage backend (e.g., to a database), we only change one file.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8: Data Flow</a:t>
            </a:r>
          </a:p>
          <a:p/>
          <a:p>
            <a:r>
              <a:t>WHAT TO SAY:</a:t>
            </a:r>
          </a:p>
          <a:p>
            <a:r>
              <a:t>This slide shows exactly what happens when you run compile_resume.py or click Generate in the web UI.</a:t>
            </a:r>
          </a:p>
          <a:p/>
          <a:p>
            <a:r>
              <a:t>Step 1: YAML Source. The engine first resolves which YAML to use — data/resume.yaml if it exists, </a:t>
            </a:r>
          </a:p>
          <a:p>
            <a:r>
              <a:t>falling back to data/resume.example.yaml. This fallback is what makes the CI pipeline work safely </a:t>
            </a:r>
          </a:p>
          <a:p>
            <a:r>
              <a:t>without anyone's personal data being committed.</a:t>
            </a:r>
          </a:p>
          <a:p/>
          <a:p>
            <a:r>
              <a:t>Step 2: load_yaml(). yaml.safe_load() turns the YAML into a plain Python dict. NO Pydantic here </a:t>
            </a:r>
          </a:p>
          <a:p>
            <a:r>
              <a:t>— this is important, because Pydantic validation only happens in the web editor's save path.</a:t>
            </a:r>
          </a:p>
          <a:p/>
          <a:p>
            <a:r>
              <a:t>Step 3: Per-section processing. For EACH section (education, experience, projects, skills, achievements):</a:t>
            </a:r>
          </a:p>
          <a:p>
            <a:r>
              <a:t>  - filter_list(): keeps items tagged for the target or "general"  </a:t>
            </a:r>
          </a:p>
          <a:p>
            <a:r>
              <a:t>  - rank_by_relevance(): sorts by priority field first, then tag count</a:t>
            </a:r>
          </a:p>
          <a:p>
            <a:r>
              <a:t>  - apply_budget(): trims to the hard cap</a:t>
            </a:r>
          </a:p>
          <a:p/>
          <a:p>
            <a:r>
              <a:t>Step 4: build_resume_data() assembles all filtered sections into one dict.</a:t>
            </a:r>
          </a:p>
          <a:p/>
          <a:p>
            <a:r>
              <a:t>Step 5: render_pdf() draws everything onto a ReportLab canvas. The _check_or_new_page() method </a:t>
            </a:r>
          </a:p>
          <a:p>
            <a:r>
              <a:t>handles overflow — if content would go past the page bottom, it starts a new page automatically.</a:t>
            </a:r>
          </a:p>
          <a:p/>
          <a:p>
            <a:r>
              <a:t>Step 6: PDF written to disk.</a:t>
            </a:r>
          </a:p>
          <a:p/>
          <a:p>
            <a:r>
              <a:t>Step 7 (optional): git_commit() — if inside a git repo and the file isn't gitignored.</a:t>
            </a:r>
          </a:p>
          <a:p/>
          <a:p>
            <a:r>
              <a:t>IMPORTANT: Show the budget constants card. These specific numbers (4, 3, 4, 6) are what make </a:t>
            </a:r>
          </a:p>
          <a:p>
            <a:r>
              <a:t>"fits on one page" a reliable guarantee.</a:t>
            </a:r>
          </a:p>
          <a:p/>
          <a:p>
            <a:r>
              <a:t>EXPECTED FACULTY QUESTIONS:</a:t>
            </a:r>
          </a:p>
          <a:p>
            <a:r>
              <a:t>Q: What if the content still doesn't fit one page even with budgets?</a:t>
            </a:r>
          </a:p>
          <a:p>
            <a:r>
              <a:t>A: The renderer's _check_or_new_page() starts a new page rather than truncating content silently. </a:t>
            </a:r>
          </a:p>
          <a:p>
            <a:r>
              <a:t>   So long profiles can produce 2-page resumes — the budget constants are tuned to make one-page </a:t>
            </a:r>
          </a:p>
          <a:p>
            <a:r>
              <a:t>   the common case.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9: Project Workflow</a:t>
            </a:r>
          </a:p>
          <a:p/>
          <a:p>
            <a:r>
              <a:t>WHAT TO SAY:</a:t>
            </a:r>
          </a:p>
          <a:p>
            <a:r>
              <a:t>This slide shows the two workflows side-by-side. Let me walk through each.</a:t>
            </a:r>
          </a:p>
          <a:p/>
          <a:p>
            <a:r>
              <a:t>CLI WORKFLOW (top track):</a:t>
            </a:r>
          </a:p>
          <a:p>
            <a:r>
              <a:t>1. You run python compile_resume.py --target backend</a:t>
            </a:r>
          </a:p>
          <a:p>
            <a:r>
              <a:t>2. The engine resolves the YAML file — your personal data if it exists, demo data otherwise</a:t>
            </a:r>
          </a:p>
          <a:p>
            <a:r>
              <a:t>3. filter_engine processes each section: filter, rank by relevance/priority, apply budget caps</a:t>
            </a:r>
          </a:p>
          <a:p>
            <a:r>
              <a:t>4. pdf_renderer draws the result onto a ReportLab canvas → writes the PDF</a:t>
            </a:r>
          </a:p>
          <a:p>
            <a:r>
              <a:t>5. Optionally, git_utils auto-commits the PDF (skips safely if gitignored or outside a git repo)</a:t>
            </a:r>
          </a:p>
          <a:p/>
          <a:p>
            <a:r>
              <a:t>WEB WORKFLOW (bottom track):</a:t>
            </a:r>
          </a:p>
          <a:p>
            <a:r>
              <a:t>1. Open browser → GET / shows the Edit Resume page, pre-filled from your YAML</a:t>
            </a:r>
          </a:p>
          <a:p>
            <a:r>
              <a:t>2. You edit fields and click Save → POST /save runs Pydantic validation and writes the YAML</a:t>
            </a:r>
          </a:p>
          <a:p>
            <a:r>
              <a:t>3. Navigate to GET /generate → pick your target role and optionally check "commit to git"</a:t>
            </a:r>
          </a:p>
          <a:p>
            <a:r>
              <a:t>4. Click Generate → POST /generate calls the SAME filter_engine + pdf_renderer as the CLI</a:t>
            </a:r>
          </a:p>
          <a:p>
            <a:r>
              <a:t>5. PDF streams back as a download. Optional separate step: POST /git/push with a browser confirm() dialog</a:t>
            </a:r>
          </a:p>
          <a:p/>
          <a:p>
            <a:r>
              <a:t>KEY POINT: Steps 4 on the web track and steps 3-4 on the CLI track are IDENTICAL in terms of the </a:t>
            </a:r>
          </a:p>
          <a:p>
            <a:r>
              <a:t>code that runs. Different input path, same core.</a:t>
            </a:r>
          </a:p>
          <a:p/>
          <a:p>
            <a:r>
              <a:t>EXPECTED FACULTY QUESTIONS:</a:t>
            </a:r>
          </a:p>
          <a:p>
            <a:r>
              <a:t>Q: What happens if the web server crashes mid-generation?</a:t>
            </a:r>
          </a:p>
          <a:p>
            <a:r>
              <a:t>A: FastAPI handles exceptions and returns appropriate HTTP error responses. The YAML isn't modified </a:t>
            </a:r>
          </a:p>
          <a:p>
            <a:r>
              <a:t>   during generation — only during a POST /save. So the data is safe.</a:t>
            </a:r>
          </a:p>
          <a:p/>
          <a:p>
            <a:r>
              <a:t>Q: Is there any rate limiting or queue for the web UI?</a:t>
            </a:r>
          </a:p>
          <a:p>
            <a:r>
              <a:t>A: No — this is designed as a local, single-user tool. Multi-user support is a future scope item.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10: Project Structure</a:t>
            </a:r>
          </a:p>
          <a:p/>
          <a:p>
            <a:r>
              <a:t>WHAT TO SAY:</a:t>
            </a:r>
          </a:p>
          <a:p>
            <a:r>
              <a:t>Let me walk through the folder structure. I've cleaned it up to show only the meaningful files — </a:t>
            </a:r>
          </a:p>
          <a:p>
            <a:r>
              <a:t>removing venv, __pycache__, and .pytest_cache.</a:t>
            </a:r>
          </a:p>
          <a:p/>
          <a:p>
            <a:r>
              <a:t>ROOT LEVEL — Core modules:</a:t>
            </a:r>
          </a:p>
          <a:p>
            <a:r>
              <a:t>- compile_resume.py: The CLI with 6 flags</a:t>
            </a:r>
          </a:p>
          <a:p>
            <a:r>
              <a:t>- filter_engine.py: The heart of the engine — pure functions, fully tested</a:t>
            </a:r>
          </a:p>
          <a:p>
            <a:r>
              <a:t>- pdf_renderer.py: ReportLab-based PDF drawing</a:t>
            </a:r>
          </a:p>
          <a:p>
            <a:r>
              <a:t>- git_utils.py: Version control automation</a:t>
            </a:r>
          </a:p>
          <a:p>
            <a:r>
              <a:t>- run_web.py: Simple script to start the FastAPI web server</a:t>
            </a:r>
          </a:p>
          <a:p/>
          <a:p>
            <a:r>
              <a:t>DATA/ — Two YAML files:</a:t>
            </a:r>
          </a:p>
          <a:p>
            <a:r>
              <a:t>- resume.example.yaml: Fictional person "Jordan Rivera" — committed to the repo, safe for CI</a:t>
            </a:r>
          </a:p>
          <a:p>
            <a:r>
              <a:t>- resume.yaml: Your real data — gitignored, never committed (important for privacy)</a:t>
            </a:r>
          </a:p>
          <a:p/>
          <a:p>
            <a:r>
              <a:t>TEMPLATES/ — One dormant HTML file:</a:t>
            </a:r>
          </a:p>
          <a:p>
            <a:r>
              <a:t>- resume_template.html: A Jinja2 template that exists but isn't wired to the engine yet. </a:t>
            </a:r>
          </a:p>
          <a:p>
            <a:r>
              <a:t>  It's a roadmap item for a future WeasyPrint/HTML rendering path.</a:t>
            </a:r>
          </a:p>
          <a:p/>
          <a:p>
            <a:r>
              <a:t>TESTS/ — Full pytest suite:</a:t>
            </a:r>
          </a:p>
          <a:p>
            <a:r>
              <a:t>- conftest.py: Shared fixtures (sample_data, tmp_yaml)</a:t>
            </a:r>
          </a:p>
          <a:p>
            <a:r>
              <a:t>- test_filter_engine.py: ~40 tests covering all filter_engine functions</a:t>
            </a:r>
          </a:p>
          <a:p/>
          <a:p>
            <a:r>
              <a:t>WEB/ — The FastAPI web application:</a:t>
            </a:r>
          </a:p>
          <a:p>
            <a:r>
              <a:t>- app.py: Five routes. models.py: Pydantic schemas. data_store.py: YAML I/O.</a:t>
            </a:r>
          </a:p>
          <a:p>
            <a:r>
              <a:t>- templates/ and static/: Jinja2 HTML, dark-theme CSS, vanilla JavaScript.</a:t>
            </a:r>
          </a:p>
          <a:p/>
          <a:p>
            <a:r>
              <a:t>.github/workflows/ci.yml — GitHub Actions that runs on every push.</a:t>
            </a:r>
          </a:p>
          <a:p/>
          <a:p>
            <a:r>
              <a:t>NOTE: There's a stray resume_data.yaml at the project root from an earlier iteration — </a:t>
            </a:r>
          </a:p>
          <a:p>
            <a:r>
              <a:t>it's not read by any current module and can be ignored.</a:t>
            </a:r>
          </a:p>
          <a:p/>
          <a:p>
            <a:r>
              <a:t>EXPECTED FACULTY QUESTIONS:</a:t>
            </a:r>
          </a:p>
          <a:p>
            <a:r>
              <a:t>Q: Why is the actual resume YAML gitignored?</a:t>
            </a:r>
          </a:p>
          <a:p>
            <a:r>
              <a:t>A: Personal data protection. data/resume.yaml contains your real contact info, employer details, </a:t>
            </a:r>
          </a:p>
          <a:p>
            <a:r>
              <a:t>   and career history — you don't want that accidentally pushed to a public repository. </a:t>
            </a:r>
          </a:p>
          <a:p>
            <a:r>
              <a:t>   The fictional example ships instead.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11: Live Demonstration</a:t>
            </a:r>
          </a:p>
          <a:p/>
          <a:p>
            <a:r>
              <a:t>OPTION A — LIVE DEMO (preferred):</a:t>
            </a:r>
          </a:p>
          <a:p>
            <a:r>
              <a:t>If you can connect to a computer running the project, do a live demo:</a:t>
            </a:r>
          </a:p>
          <a:p>
            <a:r>
              <a:t>1. Open terminal → python compile_resume.py --targets-report (show colored table)</a:t>
            </a:r>
          </a:p>
          <a:p>
            <a:r>
              <a:t>2. Open browser → http://127.0.0.1:8000 (show Edit Resume page)</a:t>
            </a:r>
          </a:p>
          <a:p>
            <a:r>
              <a:t>3. Navigate to /generate, select 'backend', click Generate (download PDF)</a:t>
            </a:r>
          </a:p>
          <a:p>
            <a:r>
              <a:t>4. Open the downloaded PDF and show it on screen</a:t>
            </a:r>
          </a:p>
          <a:p/>
          <a:p>
            <a:r>
              <a:t>OPTION B — SCREENSHOT DEMO (fallback):</a:t>
            </a:r>
          </a:p>
          <a:p>
            <a:r>
              <a:t>Replace the 4 placeholder frames on this slide with actual screenshots:</a:t>
            </a:r>
          </a:p>
          <a:p>
            <a:r>
              <a:t>1. Edit Resume page (the web form with pre-filled career data)</a:t>
            </a:r>
          </a:p>
          <a:p>
            <a:r>
              <a:t>2. Generate PDF page (target dropdown, git commit checkbox)</a:t>
            </a:r>
          </a:p>
          <a:p>
            <a:r>
              <a:t>3. Generated PDF page 1 (Jordan Rivera's backend resume)</a:t>
            </a:r>
          </a:p>
          <a:p>
            <a:r>
              <a:t>4. Terminal showing --targets-report output (the colored table)</a:t>
            </a:r>
          </a:p>
          <a:p/>
          <a:p>
            <a:r>
              <a:t>TALKING POINTS DURING DEMO:</a:t>
            </a:r>
          </a:p>
          <a:p>
            <a:r>
              <a:t>• "Notice the form is pre-filled — it reads from the YAML file automatically."</a:t>
            </a:r>
          </a:p>
          <a:p>
            <a:r>
              <a:t>• "I'm selecting 'backend' as the target. This will filter out any frontend or data-science items."</a:t>
            </a:r>
          </a:p>
          <a:p>
            <a:r>
              <a:t>• "The PDF generates in under a second — no browser, no external tools."</a:t>
            </a:r>
          </a:p>
          <a:p>
            <a:r>
              <a:t>• "The targets-report shows exactly how many items each role would get — useful for checking </a:t>
            </a:r>
          </a:p>
          <a:p>
            <a:r>
              <a:t>   your YAML data coverage."</a:t>
            </a:r>
          </a:p>
          <a:p/>
          <a:p>
            <a:r>
              <a:t>EXPECTED FACULTY QUESTIONS:</a:t>
            </a:r>
          </a:p>
          <a:p>
            <a:r>
              <a:t>Q: Can we see the YAML file?</a:t>
            </a:r>
          </a:p>
          <a:p>
            <a:r>
              <a:t>A: Yes — open data/resume.example.yaml and show a few entries with their tags.</a:t>
            </a:r>
          </a:p>
          <a:p>
            <a:r>
              <a:t>Q: How fast is PDF generation?</a:t>
            </a:r>
          </a:p>
          <a:p>
            <a:r>
              <a:t>A: Under 1 second for a typical resume. ReportLab's canvas API is very fast.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12: Engineering Challenges</a:t>
            </a:r>
          </a:p>
          <a:p/>
          <a:p>
            <a:r>
              <a:t>WHAT TO SAY:</a:t>
            </a:r>
          </a:p>
          <a:p>
            <a:r>
              <a:t>Every non-trivial project has real engineering challenges. These six are genuine — pulled from </a:t>
            </a:r>
          </a:p>
          <a:p>
            <a:r>
              <a:t>code comments and commit history, not invented.</a:t>
            </a:r>
          </a:p>
          <a:p/>
          <a:p>
            <a:r>
              <a:t>1. MULTI-PAGE OVERFLOW:</a:t>
            </a:r>
          </a:p>
          <a:p>
            <a:r>
              <a:t>The first attempt had four separate try/except blocks checking for page overflow at different </a:t>
            </a:r>
          </a:p>
          <a:p>
            <a:r>
              <a:t>points in the renderer. This was fragile and repetitive. I refactored it into a single </a:t>
            </a:r>
          </a:p>
          <a:p>
            <a:r>
              <a:t>_check_or_new_page() function that centralizes all overflow logic. This is a classic DRY principle application.</a:t>
            </a:r>
          </a:p>
          <a:p/>
          <a:p>
            <a:r>
              <a:t>2. REPORTLAB WORD-WRAP:</a:t>
            </a:r>
          </a:p>
          <a:p>
            <a:r>
              <a:t>ReportLab's canvas draws text at coordinates — it doesn't have a "word wrap" mode for complex layouts. </a:t>
            </a:r>
          </a:p>
          <a:p>
            <a:r>
              <a:t>Getting bullet points to wrap correctly with a hanging indent (where the second line aligns under the </a:t>
            </a:r>
          </a:p>
          <a:p>
            <a:r>
              <a:t>text, not the bullet character) required tracking y-coordinates manually and measuring text widths.</a:t>
            </a:r>
          </a:p>
          <a:p/>
          <a:p>
            <a:r>
              <a:t>3. GITIGNORE-AWARE COMMIT:</a:t>
            </a:r>
          </a:p>
          <a:p>
            <a:r>
              <a:t>This was a subtle bug: GitPython's is_ignored() method returns False for a file that's already </a:t>
            </a:r>
          </a:p>
          <a:p>
            <a:r>
              <a:t>tracked, even if it matches a .gitignore rule. This meant the safeguard against committing gitignored </a:t>
            </a:r>
          </a:p>
          <a:p>
            <a:r>
              <a:t>files wasn't actually working in all cases. Added an explicit check for tracking status.</a:t>
            </a:r>
          </a:p>
          <a:p/>
          <a:p>
            <a:r>
              <a:t>4. TWO 'EMPTY' BEHAVIORS:</a:t>
            </a:r>
          </a:p>
          <a:p>
            <a:r>
              <a:t>A job entry and a degree entry have opposite intended behaviors when all their child items are filtered out. </a:t>
            </a:r>
          </a:p>
          <a:p>
            <a:r>
              <a:t>A job with zero bullets is entirely irrelevant — drop it. A degree entry is always relevant — keep it </a:t>
            </a:r>
          </a:p>
          <a:p>
            <a:r>
              <a:t>even with no coursework. These needed separate handling in filter_experience() vs filter_education().</a:t>
            </a:r>
          </a:p>
          <a:p/>
          <a:p>
            <a:r>
              <a:t>5. CLI/WEB SYNC:</a:t>
            </a:r>
          </a:p>
          <a:p>
            <a:r>
              <a:t>The architectural answer to "what if the two frontends drift apart?" — make it structurally impossible </a:t>
            </a:r>
          </a:p>
          <a:p>
            <a:r>
              <a:t>by having them both import from the same module.</a:t>
            </a:r>
          </a:p>
          <a:p/>
          <a:p>
            <a:r>
              <a:t>6. PERSONAL DATA PROTECTION:</a:t>
            </a:r>
          </a:p>
          <a:p>
            <a:r>
              <a:t>A practical DevOps concern. gitignoring the real data and shipping demo data is the correct solution.</a:t>
            </a:r>
          </a:p>
          <a:p/>
          <a:p>
            <a:r>
              <a:t>EXPECTED FACULTY QUESTIONS:</a:t>
            </a:r>
          </a:p>
          <a:p>
            <a:r>
              <a:t>Q: What debugging tools did you use?</a:t>
            </a:r>
          </a:p>
          <a:p>
            <a:r>
              <a:t>A: Python's standard pdb debugger, plus the pytest test suite caught most regressions immediately.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13: Future Scope</a:t>
            </a:r>
          </a:p>
          <a:p/>
          <a:p>
            <a:r>
              <a:t>WHAT TO SAY:</a:t>
            </a:r>
          </a:p>
          <a:p>
            <a:r>
              <a:t>The roadmap items on this slide come DIRECTLY from the README — these aren't vague wishes, </a:t>
            </a:r>
          </a:p>
          <a:p>
            <a:r>
              <a:t>they're planned next steps with concrete implementation approaches.</a:t>
            </a:r>
          </a:p>
          <a:p/>
          <a:p>
            <a:r>
              <a:t>1. HTML/WeasyPrint Renderer:</a:t>
            </a:r>
          </a:p>
          <a:p>
            <a:r>
              <a:t>The Jinja2 HTML template (templates/resume_template.html) already EXISTS in the repo — it just </a:t>
            </a:r>
          </a:p>
          <a:p>
            <a:r>
              <a:t>isn't connected to the engine yet. Future work would add a --renderer html flag. The advantage </a:t>
            </a:r>
          </a:p>
          <a:p>
            <a:r>
              <a:t>is CSS-based design control that ReportLab's coordinate API can't easily replicate.</a:t>
            </a:r>
          </a:p>
          <a:p/>
          <a:p>
            <a:r>
              <a:t>2. Multi-Theme Support:</a:t>
            </a:r>
          </a:p>
          <a:p>
            <a:r>
              <a:t>The web UI already has a "Theme" dropdown — it just says "Coming soon." The renderer currently </a:t>
            </a:r>
          </a:p>
          <a:p>
            <a:r>
              <a:t>has one hardcoded set of design tokens (fonts, colors, margins). Building a theme registry </a:t>
            </a:r>
          </a:p>
          <a:p>
            <a:r>
              <a:t>is the next logical step.</a:t>
            </a:r>
          </a:p>
          <a:p/>
          <a:p>
            <a:r>
              <a:t>3. YAML Schema Validation (CLI):</a:t>
            </a:r>
          </a:p>
          <a:p>
            <a:r>
              <a:t>Currently, Pydantic validation only runs in the web editor's save path. The CLI compile path </a:t>
            </a:r>
          </a:p>
          <a:p>
            <a:r>
              <a:t>accepts any YAML structure and handles errors defensively with .get() and defaults. Adding </a:t>
            </a:r>
          </a:p>
          <a:p>
            <a:r>
              <a:t>pre-render validation would give better error messages for malformed YAML files.</a:t>
            </a:r>
          </a:p>
          <a:p/>
          <a:p>
            <a:r>
              <a:t>4. Interactive TUI:</a:t>
            </a:r>
          </a:p>
          <a:p>
            <a:r>
              <a:t>Right now you need to know the tag names to use the CLI. A rich terminal UI would let you </a:t>
            </a:r>
          </a:p>
          <a:p>
            <a:r>
              <a:t>browse available targets interactively.</a:t>
            </a:r>
          </a:p>
          <a:p/>
          <a:p>
            <a:r>
              <a:t>5. Cover Letter Integration:</a:t>
            </a:r>
          </a:p>
          <a:p>
            <a:r>
              <a:t>The tag system generalizes naturally to cover letters — you'd maintain a cover_letter.yaml with </a:t>
            </a:r>
          </a:p>
          <a:p>
            <a:r>
              <a:t>role-tagged paragraphs.</a:t>
            </a:r>
          </a:p>
          <a:p/>
          <a:p>
            <a:r>
              <a:t>[For the stretch ideas, frame them clearly as your own extension ideas, not from the README:]</a:t>
            </a:r>
          </a:p>
          <a:p>
            <a:r>
              <a:t>These are ideas I think would make logical next steps beyond the roadmap: cloud hosting with auth, </a:t>
            </a:r>
          </a:p>
          <a:p>
            <a:r>
              <a:t>ATS scoring, and job-description parsing to suggest tags.</a:t>
            </a:r>
          </a:p>
          <a:p/>
          <a:p>
            <a:r>
              <a:t>EXPECTED FACULTY QUESTIONS:</a:t>
            </a:r>
          </a:p>
          <a:p>
            <a:r>
              <a:t>Q: Which of these would you implement next?</a:t>
            </a:r>
          </a:p>
          <a:p>
            <a:r>
              <a:t>A: The HTML/WeasyPrint renderer — because the template already exists and it would dramatically </a:t>
            </a:r>
          </a:p>
          <a:p>
            <a:r>
              <a:t>   expand the design possibilities. The multi-theme support would follow naturally.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14: Key Learnings</a:t>
            </a:r>
          </a:p>
          <a:p/>
          <a:p>
            <a:r>
              <a:t>WHAT TO SAY:</a:t>
            </a:r>
          </a:p>
          <a:p>
            <a:r>
              <a:t>This project taught me several software engineering principles that I now understand from first-hand </a:t>
            </a:r>
          </a:p>
          <a:p>
            <a:r>
              <a:t>experience building a real system.</a:t>
            </a:r>
          </a:p>
          <a:p/>
          <a:p>
            <a:r>
              <a:t>Walk through 3-4 key ones with elaboration:</a:t>
            </a:r>
          </a:p>
          <a:p/>
          <a:p>
            <a:r>
              <a:t>SEPARATION OF CONCERNS:</a:t>
            </a:r>
          </a:p>
          <a:p>
            <a:r>
              <a:t>This is the most valuable lesson. The decision to route both frontends through the same core modules </a:t>
            </a:r>
          </a:p>
          <a:p>
            <a:r>
              <a:t>meant that every improvement to filter_engine.py automatically benefited both the CLI and the web UI. </a:t>
            </a:r>
          </a:p>
          <a:p>
            <a:r>
              <a:t>This isn't just good theory — it's what kept the project maintainable as it grew.</a:t>
            </a:r>
          </a:p>
          <a:p/>
          <a:p>
            <a:r>
              <a:t>PURE, TESTABLE FUNCTIONS:</a:t>
            </a:r>
          </a:p>
          <a:p>
            <a:r>
              <a:t>filter_engine.py has NO side effects — no file I/O, no global state, no randomness. Every function </a:t>
            </a:r>
          </a:p>
          <a:p>
            <a:r>
              <a:t>takes some input and returns some output. This is EXACTLY why I could write 40 meaningful unit tests </a:t>
            </a:r>
          </a:p>
          <a:p>
            <a:r>
              <a:t>for it. If the functions had side effects, testing would have required complex mocking.</a:t>
            </a:r>
          </a:p>
          <a:p/>
          <a:p>
            <a:r>
              <a:t>DEFENSIVE DESIGN:</a:t>
            </a:r>
          </a:p>
          <a:p>
            <a:r>
              <a:t>Real software needs graceful degradation. Three examples from this project:</a:t>
            </a:r>
          </a:p>
          <a:p>
            <a:r>
              <a:t>- No real YAML? Fall back to demo data, warn the user, keep working.</a:t>
            </a:r>
          </a:p>
          <a:p>
            <a:r>
              <a:t>- Not in a git repo? git_utils gracefully skips the commit instead of crashing.</a:t>
            </a:r>
          </a:p>
          <a:p>
            <a:r>
              <a:t>- Missing tags key in YAML item? filter_engine handles it silently with .get() and defaults.</a:t>
            </a:r>
          </a:p>
          <a:p/>
          <a:p>
            <a:r>
              <a:t>PRAGMATIC TECH CHOICES:</a:t>
            </a:r>
          </a:p>
          <a:p>
            <a:r>
              <a:t>Every technology choice was made for a concrete reason. ReportLab because it has no browser </a:t>
            </a:r>
          </a:p>
          <a:p>
            <a:r>
              <a:t>dependency. FastAPI because it has first-class Pydantic integration. Plain YAML because </a:t>
            </a:r>
          </a:p>
          <a:p>
            <a:r>
              <a:t>the data model is one user's career history — a database would be over-engineering.</a:t>
            </a:r>
          </a:p>
          <a:p/>
          <a:p>
            <a:r>
              <a:t>EXPECTED FACULTY QUESTIONS:</a:t>
            </a:r>
          </a:p>
          <a:p>
            <a:r>
              <a:t>Q: What was the most difficult concept to grasp?</a:t>
            </a:r>
          </a:p>
          <a:p>
            <a:r>
              <a:t>A: The .gitignore behavior with GitPython — understanding that tracking status and ignore rules </a:t>
            </a:r>
          </a:p>
          <a:p>
            <a:r>
              <a:t>   are independent concepts in Git, and that a tracked file isn't "ignored" even if it matches </a:t>
            </a:r>
          </a:p>
          <a:p>
            <a:r>
              <a:t>   a .gitignore pattern.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15: Testing &amp; Engineering Practices</a:t>
            </a:r>
          </a:p>
          <a:p/>
          <a:p>
            <a:r>
              <a:t>WHAT TO SAY:</a:t>
            </a:r>
          </a:p>
          <a:p>
            <a:r>
              <a:t>This slide is about engineering maturity and intellectual honesty. I could have just said </a:t>
            </a:r>
          </a:p>
          <a:p>
            <a:r>
              <a:t>"the project has unit tests" — but I think it's more valuable to be precise about what IS and </a:t>
            </a:r>
          </a:p>
          <a:p>
            <a:r>
              <a:t>ISN'T tested.</a:t>
            </a:r>
          </a:p>
          <a:p/>
          <a:p>
            <a:r>
              <a:t>WHAT IS COVERED: ~40 tests cover filter_engine.py comprehensively. Every function has multiple </a:t>
            </a:r>
          </a:p>
          <a:p>
            <a:r>
              <a:t>test cases, including edge cases. The conftest.py provides shared fixtures so tests are </a:t>
            </a:r>
          </a:p>
          <a:p>
            <a:r>
              <a:t>concise and focused. I have regression tests — for example, a specific test that locks in </a:t>
            </a:r>
          </a:p>
          <a:p>
            <a:r>
              <a:t>the behavior that "a job with zero matching bullets is dropped entirely."</a:t>
            </a:r>
          </a:p>
          <a:p/>
          <a:p>
            <a:r>
              <a:t>WHAT IS NOT COVERED: Three modules currently have no unit tests:</a:t>
            </a:r>
          </a:p>
          <a:p>
            <a:r>
              <a:t>1. pdf_renderer.py — difficult to test programmatically because the output is a binary PDF. </a:t>
            </a:r>
          </a:p>
          <a:p>
            <a:r>
              <a:t>   You'd need a library like PyMuPDF to inspect the rendered content.</a:t>
            </a:r>
          </a:p>
          <a:p>
            <a:r>
              <a:t>2. git_utils.py — requires a live git repo. You'd need pytest fixtures that create temporary </a:t>
            </a:r>
          </a:p>
          <a:p>
            <a:r>
              <a:t>   git repositories.</a:t>
            </a:r>
          </a:p>
          <a:p>
            <a:r>
              <a:t>3. web/app.py — requires HTTP-level integration testing (pytest-httpx or similar).</a:t>
            </a:r>
          </a:p>
          <a:p/>
          <a:p>
            <a:r>
              <a:t>WHY I'M NAMING THIS EXPLICITLY:</a:t>
            </a:r>
          </a:p>
          <a:p>
            <a:r>
              <a:t>Knowing what you HAVEN'T tested is part of engineering responsibility. Pretending everything </a:t>
            </a:r>
          </a:p>
          <a:p>
            <a:r>
              <a:t>is tested when it isn't creates false confidence.</a:t>
            </a:r>
          </a:p>
          <a:p/>
          <a:p>
            <a:r>
              <a:t>CI/CD: The GitHub Actions workflow runs on every push and has three stages:</a:t>
            </a:r>
          </a:p>
          <a:p>
            <a:r>
              <a:t>1. Full test suite</a:t>
            </a:r>
          </a:p>
          <a:p>
            <a:r>
              <a:t>2. Smoke-compiles three targets (backend, data-science, frontend)</a:t>
            </a:r>
          </a:p>
          <a:p>
            <a:r>
              <a:t>3. Runs --list-targets and --targets-report to verify CLI flags work</a:t>
            </a:r>
          </a:p>
          <a:p/>
          <a:p>
            <a:r>
              <a:t>EXPECTED FACULTY QUESTIONS:</a:t>
            </a:r>
          </a:p>
          <a:p>
            <a:r>
              <a:t>Q: What is a "regression test"?</a:t>
            </a:r>
          </a:p>
          <a:p>
            <a:r>
              <a:t>A: A test written specifically to lock in a behavior that was once a bug or a design decision. </a:t>
            </a:r>
          </a:p>
          <a:p>
            <a:r>
              <a:t>   If someone accidentally changes the code so that zero-bullet jobs are no longer dropped, </a:t>
            </a:r>
          </a:p>
          <a:p>
            <a:r>
              <a:t>   the regression test will catch it immediately.</a:t>
            </a:r>
          </a:p>
          <a:p/>
          <a:p>
            <a:r>
              <a:t>Q: How do you test the PDF output without rendering it?</a:t>
            </a:r>
          </a:p>
          <a:p>
            <a:r>
              <a:t>A: Currently, it's not tested — that's acknowledged as a gap. The smoke test in CI does </a:t>
            </a:r>
          </a:p>
          <a:p>
            <a:r>
              <a:t>   compile the PDF and would fail if the renderer throws an exception, but it doesn't </a:t>
            </a:r>
          </a:p>
          <a:p>
            <a:r>
              <a:t>   assert anything about the PDF's content or layout.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16: Conclusion</a:t>
            </a:r>
          </a:p>
          <a:p/>
          <a:p>
            <a:r>
              <a:t>WHAT TO SAY:</a:t>
            </a:r>
          </a:p>
          <a:p>
            <a:r>
              <a:t>Let me close with a summary of what this project demonstrates:</a:t>
            </a:r>
          </a:p>
          <a:p/>
          <a:p>
            <a:r>
              <a:t>PROBLEM: Resume customization is tedious, error-prone, and produces inconsistent versions. </a:t>
            </a:r>
          </a:p>
          <a:p>
            <a:r>
              <a:t>We needed a systematic solution.</a:t>
            </a:r>
          </a:p>
          <a:p/>
          <a:p>
            <a:r>
              <a:t>SOLUTION: Resume Engine is a Git-driven, tag-based compilation system. One YAML file, </a:t>
            </a:r>
          </a:p>
          <a:p>
            <a:r>
              <a:t>unlimited tailored resumes. CLI for developers, web UI for visual editing.</a:t>
            </a:r>
          </a:p>
          <a:p/>
          <a:p>
            <a:r>
              <a:t>IMPACT: Role-specific PDFs in under a second. Git version history of every resume. </a:t>
            </a:r>
          </a:p>
          <a:p>
            <a:r>
              <a:t>GitHub Actions CI that validates the engine on every push. A Pydantic-validated web editor </a:t>
            </a:r>
          </a:p>
          <a:p>
            <a:r>
              <a:t>that prevents data corruption.</a:t>
            </a:r>
          </a:p>
          <a:p/>
          <a:p>
            <a:r>
              <a:t>LEARNING: This project gave me hands-on experience with real software engineering principles: </a:t>
            </a:r>
          </a:p>
          <a:p>
            <a:r>
              <a:t>separation of concerns through the shared core, pure functions that enable unit testing, </a:t>
            </a:r>
          </a:p>
          <a:p>
            <a:r>
              <a:t>defensive design with graceful fallbacks, REST API design with FastAPI, Git automation with </a:t>
            </a:r>
          </a:p>
          <a:p>
            <a:r>
              <a:t>GitPython, and CI/CD with GitHub Actions.</a:t>
            </a:r>
          </a:p>
          <a:p/>
          <a:p>
            <a:r>
              <a:t>CLOSING:</a:t>
            </a:r>
          </a:p>
          <a:p>
            <a:r>
              <a:t>I'm happy to take any questions — whether about the architecture decisions, specific implementation </a:t>
            </a:r>
          </a:p>
          <a:p>
            <a:r>
              <a:t>details, the challenges I faced, or the roadmap. I can also do a live demonstration if there's </a:t>
            </a:r>
          </a:p>
          <a:p>
            <a:r>
              <a:t>interest.</a:t>
            </a:r>
          </a:p>
          <a:p/>
          <a:p>
            <a:r>
              <a:t>EXPECTED FACULTY QUESTIONS:</a:t>
            </a:r>
          </a:p>
          <a:p>
            <a:r>
              <a:t>Q: What grade/rating would you give this project?</a:t>
            </a:r>
          </a:p>
          <a:p>
            <a:r>
              <a:t>A: [Let them assess! Don't answer this one yourself.]</a:t>
            </a:r>
          </a:p>
          <a:p/>
          <a:p>
            <a:r>
              <a:t>Q: What would you do differently if you were starting over?</a:t>
            </a:r>
          </a:p>
          <a:p>
            <a:r>
              <a:t>A: I would add the HTML/WeasyPrint renderer from the beginning rather than building it in parallel </a:t>
            </a:r>
          </a:p>
          <a:p>
            <a:r>
              <a:t>   with ReportLab. Starting with one renderer and planning the theme system from day one </a:t>
            </a:r>
          </a:p>
          <a:p>
            <a:r>
              <a:t>   would have made the architecture cleaner.</a:t>
            </a:r>
          </a:p>
          <a:p/>
          <a:p>
            <a:r>
              <a:t>Q: Is this deployed anywhere?</a:t>
            </a:r>
          </a:p>
          <a:p>
            <a:r>
              <a:t>A: Currently it's a local tool only — deployment is a roadmap item. Adding authentication for </a:t>
            </a:r>
          </a:p>
          <a:p>
            <a:r>
              <a:t>   multi-user use would be the prerequisite for cloud deployment.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-457200"/>
            <a:ext cx="2926080" cy="2926080"/>
          </a:xfrm>
          <a:prstGeom prst="roundRect">
            <a:avLst>
              <a:gd name="adj" fmla="val 10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0" y="-91440"/>
            <a:ext cx="2194560" cy="219456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07040" y="274320"/>
            <a:ext cx="1463040" cy="1463040"/>
          </a:xfrm>
          <a:prstGeom prst="roundRect">
            <a:avLst>
              <a:gd name="adj" fmla="val 10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0" y="1097280"/>
            <a:ext cx="1463040" cy="2743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097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#backend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9966960" y="1828800"/>
            <a:ext cx="1463040" cy="274320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0" y="1828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#frontend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011680"/>
            <a:ext cx="1463040" cy="27432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#data-science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2743200"/>
            <a:ext cx="1463040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0" y="2743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#devops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926080"/>
            <a:ext cx="146304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926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general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669280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587044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071616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6272784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" y="5669280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" y="587044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" y="6071616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" y="6272784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" y="5669280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" y="587044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" y="6071616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" y="6272784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" y="5669280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" y="587044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" y="6071616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" y="6272784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33271" y="5669280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33271" y="587044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33271" y="6071616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3271" y="6272784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34440" y="5669280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34440" y="587044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34440" y="6071616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34440" y="6272784"/>
            <a:ext cx="73152" cy="73152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146304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ptos Display"/>
              </a:rPr>
              <a:t>RESUME ENGINE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578608"/>
            <a:ext cx="5943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6974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8BDF8"/>
                </a:solidFill>
                <a:latin typeface="Aptos Display"/>
              </a:rPr>
              <a:t>Git-Driven, Tag-Based Resume Compilation Engine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337560"/>
            <a:ext cx="3657600" cy="27432"/>
          </a:xfrm>
          <a:prstGeom prst="rect">
            <a:avLst/>
          </a:prstGeom>
          <a:solidFill>
            <a:srgbClr val="30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4747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A3"/>
                </a:solidFill>
                <a:latin typeface="Aptos"/>
              </a:rPr>
              <a:t>Summer Training Project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38587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ptos"/>
              </a:rPr>
              <a:t>B.Tech Computer Science — 2025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A3"/>
                </a:solidFill>
                <a:latin typeface="Aptos"/>
              </a:rPr>
              <a:t>Presented by: [Author Name]   |   [College Name]   |   [Department]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669280" cy="2468880"/>
          </a:xfrm>
          <a:prstGeom prst="roundRect">
            <a:avLst>
              <a:gd name="adj" fmla="val 30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64008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Aptos"/>
              </a:rPr>
              <a:t>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704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 Display"/>
              </a:rPr>
              <a:t>Repetitive Manual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19072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Aptos"/>
              </a:rPr>
              <a:t>Customizing a resume per job application means re-editing the same content repeatedly — error-prone and time-consuming.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5669280" cy="2468880"/>
          </a:xfrm>
          <a:prstGeom prst="roundRect">
            <a:avLst>
              <a:gd name="adj" fmla="val 30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05840"/>
            <a:ext cx="64008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1704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Aptos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1704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 Display"/>
              </a:rPr>
              <a:t>Role-Specific Emphasis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19072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Aptos"/>
              </a:rPr>
              <a:t>A backend role needs different highlights than data-science or devops. One-size-fits-all resumes undersell you.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5669280" cy="2468880"/>
          </a:xfrm>
          <a:prstGeom prst="roundRect">
            <a:avLst>
              <a:gd name="adj" fmla="val 30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64008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1363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Aptos"/>
              </a:rPr>
              <a:t>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91363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 Display"/>
              </a:rPr>
              <a:t>Version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62271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Aptos"/>
              </a:rPr>
              <a:t>Keeping several hand-edited resume files in sync is easy to get wrong — a fix in one version is forgotten in another.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749039"/>
            <a:ext cx="5669280" cy="2468880"/>
          </a:xfrm>
          <a:prstGeom prst="roundRect">
            <a:avLst>
              <a:gd name="adj" fmla="val 30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749039"/>
            <a:ext cx="64008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91363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Aptos"/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91363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 Display"/>
              </a:rPr>
              <a:t>No Single Source of Truth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462271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Aptos"/>
              </a:rPr>
              <a:t>Career history scattered across multiple resume files with no canonical master record to update once.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355080"/>
            <a:ext cx="11430000" cy="384048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6355080"/>
            <a:ext cx="54864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550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38BDF8"/>
                </a:solidFill>
                <a:latin typeface="Aptos"/>
              </a:rPr>
              <a:t>  "One master resume should generate unlimited, role-specific resumes automatically."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685800"/>
          </a:xfrm>
          <a:prstGeom prst="roundRect">
            <a:avLst>
              <a:gd name="adj" fmla="val 15000"/>
            </a:avLst>
          </a:prstGeom>
          <a:solidFill>
            <a:srgbClr val="1A2E55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ptos"/>
              </a:rPr>
              <a:t>🎯  Maintain ONE YAML source of truth — generate unlimited tailored one-page PDF resumes on demand.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Aptos Display"/>
              </a:rPr>
              <a:t>High-Level Data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2377440" cy="219456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2377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ptos"/>
              </a:rP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17520"/>
            <a:ext cx="2377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 Display"/>
              </a:rPr>
              <a:t>Tagged
Master 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91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8BDF8"/>
                </a:solidFill>
                <a:latin typeface="Aptos"/>
              </a:rPr>
              <a:t>  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331720"/>
            <a:ext cx="2377440" cy="2194560"/>
          </a:xfrm>
          <a:prstGeom prst="roundRect">
            <a:avLst>
              <a:gd name="adj" fmla="val 25000"/>
            </a:avLst>
          </a:prstGeom>
          <a:solidFill>
            <a:srgbClr val="1A2E55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2331720"/>
            <a:ext cx="2377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2468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ptos"/>
              </a:rP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017520"/>
            <a:ext cx="2377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 Display"/>
              </a:rPr>
              <a:t>Filter Engine
(tag match +
priority rank +
budget cap)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291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8BDF8"/>
                </a:solidFill>
                <a:latin typeface="Aptos"/>
              </a:rPr>
              <a:t>  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331720"/>
            <a:ext cx="2377440" cy="219456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331720"/>
            <a:ext cx="23774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ptos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017520"/>
            <a:ext cx="2377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 Display"/>
              </a:rPr>
              <a:t>ReportLab
PDF Renderer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291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8BDF8"/>
                </a:solidFill>
                <a:latin typeface="Aptos"/>
              </a:rPr>
              <a:t>  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2331720"/>
            <a:ext cx="2377440" cy="2194560"/>
          </a:xfrm>
          <a:prstGeom prst="roundRect">
            <a:avLst>
              <a:gd name="adj" fmla="val 25000"/>
            </a:avLst>
          </a:prstGeom>
          <a:solidFill>
            <a:srgbClr val="142A1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2331720"/>
            <a:ext cx="23774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468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ptos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017520"/>
            <a:ext cx="2377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 Display"/>
              </a:rPr>
              <a:t>One-Page
Role-Specific
PDF Resume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Aptos Display"/>
              </a:rPr>
              <a:t>Two Entry Points: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66360"/>
            <a:ext cx="5669280" cy="658368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166360"/>
            <a:ext cx="6400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6636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ptos"/>
              </a:rPr>
              <a:t>🖥️ CLI  —  python compile_resume.py --target backend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166360"/>
            <a:ext cx="5669280" cy="658368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5166360"/>
            <a:ext cx="64008" cy="6583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16636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ptos"/>
              </a:rPr>
              <a:t>🌐 Web UI  —  http://127.0.0.1:8000  (FastAPI + Jinja2)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749039" cy="12344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3749039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🏷️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09728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Tag-Based Filtering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Items tagged backend, frontend, data-science, devops, general — only the right content gets through.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05840"/>
            <a:ext cx="3749039" cy="12344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05840"/>
            <a:ext cx="3749039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0972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09728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Priority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55448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Optional priority: int field gives manual control over item ordering within any section.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005840"/>
            <a:ext cx="3749039" cy="12344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005840"/>
            <a:ext cx="3749039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9" y="10972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109728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Section Budgeting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155448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4 bullets/job · 3 projects · 4 achievements · 6 coursework — hard caps ensure reliable one-page output.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77440"/>
            <a:ext cx="3749039" cy="12344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377440"/>
            <a:ext cx="3749039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4688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46888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Multi-Page Overflow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92608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Long profiles spill gracefully to page 2+ instead of being silently cut off.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377440"/>
            <a:ext cx="3749039" cy="12344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2377440"/>
            <a:ext cx="3749039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24688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46888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ReportLab PDF Renderer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292608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Pure Python, no browser, no wkhtmltopdf — fast and dependency-light programmatic rendering.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2377440"/>
            <a:ext cx="3749039" cy="12344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2377440"/>
            <a:ext cx="3749039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39" y="24688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19" y="246888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Git Auto-Commit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9" y="292608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Generated PDFs are auto-committed with .gitignore-aware skip logic. Optional --push flag.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3749039"/>
            <a:ext cx="3749039" cy="12344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0" y="3749039"/>
            <a:ext cx="3749039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3840479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3840479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Web UI + CLI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4297679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Pydantic-validated form editor in the browser; one-command generation from the terminal.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749039"/>
            <a:ext cx="3749039" cy="12344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3749039"/>
            <a:ext cx="3749039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3840479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3840479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~40 Pytest Tests + CI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297679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Full unit test suite on filter_engine.py; GitHub Actions runs tests + smoke-compiles on every push.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749039" cy="7315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1064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A3"/>
                </a:solidFill>
                <a:latin typeface="Aptos"/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Python 3.12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399" y="1051560"/>
            <a:ext cx="3749039" cy="7315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399" y="1051560"/>
            <a:ext cx="54864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05156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1" y="11064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A3"/>
                </a:solidFill>
                <a:latin typeface="Aptos"/>
              </a:rPr>
              <a:t>DATA 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1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YAML  (PyYAML)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58" y="1051560"/>
            <a:ext cx="3749039" cy="7315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58" y="1051560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8" y="105156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0" y="11064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A3"/>
                </a:solidFill>
                <a:latin typeface="Aptos"/>
              </a:rPr>
              <a:t>PDF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ReportLab (canvas API)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984248"/>
            <a:ext cx="3749039" cy="7315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1984248"/>
            <a:ext cx="54864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984248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20391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A3"/>
                </a:solidFill>
                <a:latin typeface="Aptos"/>
              </a:rPr>
              <a:t>WEB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23042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FastAPI + Uvicorn (ASGI)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399" y="1984248"/>
            <a:ext cx="3749039" cy="7315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399" y="1984248"/>
            <a:ext cx="54864" cy="7315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1984248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3751" y="20391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A3"/>
                </a:solidFill>
                <a:latin typeface="Aptos"/>
              </a:rPr>
              <a:t>TEMPLATING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1" y="23042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Jinja2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58" y="1984248"/>
            <a:ext cx="3749039" cy="7315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58" y="1984248"/>
            <a:ext cx="54864" cy="7315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18" y="1984248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7110" y="20391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A3"/>
                </a:solidFill>
                <a:latin typeface="Aptos"/>
              </a:rPr>
              <a:t>DATA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7110" y="23042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Pydantic  (web layer only)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916936"/>
            <a:ext cx="3749039" cy="7315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2916936"/>
            <a:ext cx="54864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2916936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29718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A3"/>
                </a:solidFill>
                <a:latin typeface="Aptos"/>
              </a:rPr>
              <a:t>FRONTEND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" y="32369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HTML5 · CSS3 · Vanilla JavaScript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399" y="2916936"/>
            <a:ext cx="3749039" cy="7315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399" y="2916936"/>
            <a:ext cx="54864" cy="731520"/>
          </a:xfrm>
          <a:prstGeom prst="rect">
            <a:avLst/>
          </a:prstGeom>
          <a:solidFill>
            <a:srgbClr val="F4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59" y="2916936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73751" y="29718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A3"/>
                </a:solidFill>
                <a:latin typeface="Aptos"/>
              </a:rPr>
              <a:t>GIT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3751" y="32369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GitPython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58" y="2916936"/>
            <a:ext cx="3749039" cy="7315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66758" y="2916936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18" y="2916936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🖥️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97110" y="29718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A3"/>
                </a:solidFill>
                <a:latin typeface="Aptos"/>
              </a:rPr>
              <a:t>CLI UX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7110" y="32369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argparse · colorama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3849624"/>
            <a:ext cx="3749039" cy="7315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3849624"/>
            <a:ext cx="54864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849624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" y="390448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A3"/>
                </a:solidFill>
                <a:latin typeface="Aptos"/>
              </a:rPr>
              <a:t>TESTING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" y="41696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pytest  (~40 unit tests)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43399" y="3849624"/>
            <a:ext cx="3749039" cy="7315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43399" y="3849624"/>
            <a:ext cx="54864" cy="731520"/>
          </a:xfrm>
          <a:prstGeom prst="rect">
            <a:avLst/>
          </a:prstGeom>
          <a:solidFill>
            <a:srgbClr val="FBD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0559" y="3849624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73751" y="390448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94A3"/>
                </a:solidFill>
                <a:latin typeface="Aptos"/>
              </a:rPr>
              <a:t>CI/CD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73751" y="41696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GitHub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High-Level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A3"/>
                </a:solidFill>
                <a:latin typeface="Aptos"/>
              </a:rPr>
              <a:t>ENTRY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108960" cy="1325880"/>
          </a:xfrm>
          <a:prstGeom prst="roundRect">
            <a:avLst>
              <a:gd name="adj" fmla="val 20000"/>
            </a:avLst>
          </a:prstGeom>
          <a:solidFill>
            <a:srgbClr val="1A2E55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1089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Aptos Display"/>
              </a:rPr>
              <a:t>🖥️ 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01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Aptos"/>
              </a:rPr>
              <a:t>compile_resume.py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B94A3"/>
                </a:solidFill>
                <a:latin typeface="Aptos"/>
              </a:rPr>
              <a:t>python compile_resume.py --target 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3108960" cy="1325880"/>
          </a:xfrm>
          <a:prstGeom prst="roundRect">
            <a:avLst>
              <a:gd name="adj" fmla="val 20000"/>
            </a:avLst>
          </a:prstGeom>
          <a:solidFill>
            <a:srgbClr val="142A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310896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Aptos Display"/>
              </a:rPr>
              <a:t>🌐  Web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564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Aptos"/>
              </a:rPr>
              <a:t>web/app.py  (FastAPI)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B94A3"/>
                </a:solidFill>
                <a:latin typeface="Aptos"/>
              </a:rPr>
              <a:t>Browser → GET / · POST /save · POST /generate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72000"/>
            <a:ext cx="3108960" cy="64008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Aptos"/>
              </a:rPr>
              <a:t>👤  User  (CLI or Browser)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084831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563EB"/>
                </a:solidFill>
                <a:latin typeface="Aptos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65760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563EB"/>
                </a:solidFill>
                <a:latin typeface="Aptos"/>
              </a:rP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0058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A3"/>
                </a:solidFill>
                <a:latin typeface="Aptos"/>
              </a:rPr>
              <a:t>SHARED CORE  (same code for both frontends)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1371600"/>
            <a:ext cx="5029200" cy="10058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31920" y="1371600"/>
            <a:ext cx="5029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144475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⚙️  filter_engine.py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1874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Aptos"/>
              </a:rPr>
              <a:t>YAML loading → tag filter → rank → budget cap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2651760"/>
            <a:ext cx="5029200" cy="10058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31920" y="2651760"/>
            <a:ext cx="5029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272491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📄  pdf_renderer.py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31546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Aptos"/>
              </a:rPr>
              <a:t>ReportLab canvas renderer · multi-page overflow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3931920"/>
            <a:ext cx="5029200" cy="10058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31920" y="3931920"/>
            <a:ext cx="50292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9080" y="400507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🔗  git_utils.py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4434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Aptos"/>
              </a:rPr>
              <a:t>Auto-commit PDF · optional push · .gitignore-aware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93008" y="20299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93008" y="35844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39572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8BDF8"/>
                </a:solidFill>
                <a:latin typeface="Aptos"/>
              </a:rPr>
              <a:t>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675887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8BDF8"/>
                </a:solidFill>
                <a:latin typeface="Aptos"/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10058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A3"/>
                </a:solidFill>
                <a:latin typeface="Aptos"/>
              </a:rPr>
              <a:t>OUTPUT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18320" y="2148840"/>
            <a:ext cx="2468880" cy="1097280"/>
          </a:xfrm>
          <a:prstGeom prst="roundRect">
            <a:avLst>
              <a:gd name="adj" fmla="val 20000"/>
            </a:avLst>
          </a:prstGeom>
          <a:solidFill>
            <a:srgbClr val="142A1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4040" y="2240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Aptos Display"/>
              </a:rPr>
              <a:t>✅  PDF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2651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E2E8F0"/>
                </a:solidFill>
                <a:latin typeface="Aptos"/>
              </a:rPr>
              <a:t>output/resume_{target}.pdf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8" y="2514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2C55E"/>
                </a:solidFill>
                <a:latin typeface="Aptos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035040"/>
            <a:ext cx="11430000" cy="658368"/>
          </a:xfrm>
          <a:prstGeom prst="roundRect">
            <a:avLst>
              <a:gd name="adj" fmla="val 15000"/>
            </a:avLst>
          </a:prstGeom>
          <a:solidFill>
            <a:srgbClr val="1A2E55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03504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Aptos"/>
              </a:rPr>
              <a:t>★  Both frontends share the exact same filter_engine.py and pdf_renderer.py — zero logic duplication.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Module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A3"/>
                </a:solidFill>
                <a:latin typeface="Aptos"/>
              </a:rPr>
              <a:t>PRESENTATION LAYER  (Entry Points)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4069080" cy="12801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40690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Aptos Display"/>
              </a:rPr>
              <a:t>compile_resume.py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CLI Entry Point
argparse · colorama
--target, --output, --push, --preview
--list-targets, --targets-report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298448"/>
            <a:ext cx="4069080" cy="12801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298448"/>
            <a:ext cx="40690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3716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Aptos Display"/>
              </a:rPr>
              <a:t>web/app.py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Web Entry Point
FastAPI routes
GET /  ·  POST /save
GET+POST /generate  ·  POST /git/push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298448"/>
            <a:ext cx="3017520" cy="2468880"/>
          </a:xfrm>
          <a:prstGeom prst="roundRect">
            <a:avLst>
              <a:gd name="adj" fmla="val 18000"/>
            </a:avLst>
          </a:prstGeom>
          <a:solidFill>
            <a:srgbClr val="1A2030"/>
          </a:solidFill>
          <a:ln>
            <a:solidFill>
              <a:srgbClr val="38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3533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A3"/>
                </a:solidFill>
                <a:latin typeface="Aptos"/>
              </a:rPr>
              <a:t>WEB-ONLY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Aptos"/>
              </a:rPr>
              <a:t>▸ web/models.py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8836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Aptos"/>
              </a:rPr>
              <a:t>Pydantic schemas
ResumeData + nested models
Validation on save path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359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Aptos"/>
              </a:rPr>
              <a:t>▸ web/data_store.py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59689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Aptos"/>
              </a:rPr>
              <a:t>YAML file I/O
Single choke-point for
all web data reads/writes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0723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Aptos"/>
              </a:rPr>
              <a:t>▸ web/templates/ + static/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3101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Aptos"/>
              </a:rPr>
              <a:t>Jinja2 HTML · CSS dark theme
Vanilla JS — no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2633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BDF8"/>
                </a:solidFill>
                <a:latin typeface="Aptos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633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BDF8"/>
                </a:solidFill>
                <a:latin typeface="Aptos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9443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A3"/>
                </a:solidFill>
                <a:latin typeface="Aptos"/>
              </a:rPr>
              <a:t>CORE ENGINE  (Shared — no duplication)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218688"/>
            <a:ext cx="3840480" cy="1371600"/>
          </a:xfrm>
          <a:prstGeom prst="roundRect">
            <a:avLst>
              <a:gd name="adj" fmla="val 18000"/>
            </a:avLst>
          </a:prstGeom>
          <a:solidFill>
            <a:srgbClr val="1A2E55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18688"/>
            <a:ext cx="38404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2918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Aptos Display"/>
              </a:rPr>
              <a:t>filter_engine.py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65760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load_yaml() → filter_list() → rank_by_relevance()
→ apply_budget() → build_resume_data()
Pure functions — no side effects — fully unit tested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218688"/>
            <a:ext cx="3840480" cy="1371600"/>
          </a:xfrm>
          <a:prstGeom prst="roundRect">
            <a:avLst>
              <a:gd name="adj" fmla="val 18000"/>
            </a:avLst>
          </a:prstGeom>
          <a:solidFill>
            <a:srgbClr val="1424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3218688"/>
            <a:ext cx="38404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2918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Aptos Display"/>
              </a:rPr>
              <a:t>pdf_renderer.py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365760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Renderer class — ReportLab canvas
_check_or_new_page() overflow gate
Programmatic drawing — no HTML/browser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41648" y="374903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64515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C55E"/>
                </a:solidFill>
                <a:latin typeface="Aptos"/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9377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4A3"/>
                </a:solidFill>
                <a:latin typeface="Aptos"/>
              </a:rPr>
              <a:t>OPTIONAL LAYER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4956048"/>
            <a:ext cx="3840480" cy="960120"/>
          </a:xfrm>
          <a:prstGeom prst="roundRect">
            <a:avLst>
              <a:gd name="adj" fmla="val 18000"/>
            </a:avLst>
          </a:prstGeom>
          <a:solidFill>
            <a:srgbClr val="142A1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0" y="4956048"/>
            <a:ext cx="38404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50292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Aptos Display"/>
              </a:rPr>
              <a:t>git_utils.py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git_commit() · git_push() · .gitignore-aware · graceful no-op outside git repo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956048"/>
            <a:ext cx="3749039" cy="960120"/>
          </a:xfrm>
          <a:prstGeom prst="roundRect">
            <a:avLst>
              <a:gd name="adj" fmla="val 18000"/>
            </a:avLst>
          </a:prstGeom>
          <a:solidFill>
            <a:srgbClr val="14201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029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Aptos Display"/>
              </a:rPr>
              <a:t>tests/test_filter_engine.py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394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~40 pytest tests · covers filter_engine only
Conftest.py with shared fixtures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6080760"/>
            <a:ext cx="11430000" cy="594360"/>
          </a:xfrm>
          <a:prstGeom prst="roundRect">
            <a:avLst>
              <a:gd name="adj" fmla="val 12000"/>
            </a:avLst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08076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  <a:latin typeface="Aptos"/>
              </a:rPr>
              <a:t>⚠  Pydantic validation (web/models.py) applies only on the web /save path — the CLI compile path uses plain Python dicts throughout.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Data Flow — Compile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1481328" cy="18288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1481328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24712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389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 Display"/>
              </a:rPr>
              <a:t>data/resume.yaml
(or .example.yaml fallback)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194560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Aptos"/>
              </a:rPr>
              <a:t>YAML source — gitignored real data,
or fictional example for demo/CI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7944" y="18288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Aptos"/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9968" y="1051560"/>
            <a:ext cx="1481328" cy="1828800"/>
          </a:xfrm>
          <a:prstGeom prst="roundRect">
            <a:avLst>
              <a:gd name="adj" fmla="val 18000"/>
            </a:avLst>
          </a:prstGeom>
          <a:solidFill>
            <a:srgbClr val="1A2E55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9968" y="1051560"/>
            <a:ext cx="1481328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9968" y="1124712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8" y="1508760"/>
            <a:ext cx="1389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 Display"/>
              </a:rPr>
              <a:t>filter_engine.
load_yaml()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2" y="2194560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Aptos"/>
              </a:rPr>
              <a:t>yaml.safe_load() → plain Python dict
No Pydantic, no schema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18288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Aptos"/>
              </a:rPr>
              <a:t>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9896" y="1051560"/>
            <a:ext cx="1481328" cy="1828800"/>
          </a:xfrm>
          <a:prstGeom prst="roundRect">
            <a:avLst>
              <a:gd name="adj" fmla="val 18000"/>
            </a:avLst>
          </a:prstGeom>
          <a:solidFill>
            <a:srgbClr val="14243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39896" y="1051560"/>
            <a:ext cx="1481328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9896" y="1124712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5616" y="1508760"/>
            <a:ext cx="1389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 Display"/>
              </a:rPr>
              <a:t>Per-section
Filter → Rank → 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2194560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Aptos"/>
              </a:rPr>
              <a:t>filter_list()  →  rank_by_relevance()
→  apply_budget()  per section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18288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Aptos"/>
              </a:rPr>
              <a:t>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49824" y="1051560"/>
            <a:ext cx="1481328" cy="18288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49824" y="1051560"/>
            <a:ext cx="1481328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9824" y="1124712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95544" y="1508760"/>
            <a:ext cx="1389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 Display"/>
              </a:rPr>
              <a:t>build_resume
_data()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4688" y="2194560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Aptos"/>
              </a:rPr>
              <a:t>Assembles filtered dict:
personal · education · experience
projects · skills · achievements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18288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Aptos"/>
              </a:rPr>
              <a:t>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59752" y="1051560"/>
            <a:ext cx="1481328" cy="1828800"/>
          </a:xfrm>
          <a:prstGeom prst="roundRect">
            <a:avLst>
              <a:gd name="adj" fmla="val 18000"/>
            </a:avLst>
          </a:prstGeom>
          <a:solidFill>
            <a:srgbClr val="14202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59752" y="1051560"/>
            <a:ext cx="1481328" cy="502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9752" y="1124712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5472" y="1508760"/>
            <a:ext cx="1389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 Display"/>
              </a:rPr>
              <a:t>pdf_renderer.
render_pdf()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4616" y="2194560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Aptos"/>
              </a:rPr>
              <a:t>Renderer draws onto ReportLab Canvas
_check_or_new_page() handles overflow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77656" y="18288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Aptos"/>
              </a:rPr>
              <a:t>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1051560"/>
            <a:ext cx="1481328" cy="1828800"/>
          </a:xfrm>
          <a:prstGeom prst="roundRect">
            <a:avLst>
              <a:gd name="adj" fmla="val 18000"/>
            </a:avLst>
          </a:prstGeom>
          <a:solidFill>
            <a:srgbClr val="102818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69680" y="1051560"/>
            <a:ext cx="1481328" cy="502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1124712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1508760"/>
            <a:ext cx="1389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 Display"/>
              </a:rPr>
              <a:t>output/resume
_{target}.pdf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4544" y="2194560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Aptos"/>
              </a:rPr>
              <a:t>Written to disk
Multi-page if content overflows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87584" y="18288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Aptos"/>
              </a:rPr>
              <a:t>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79608" y="1051560"/>
            <a:ext cx="1481328" cy="1828800"/>
          </a:xfrm>
          <a:prstGeom prst="roundRect">
            <a:avLst>
              <a:gd name="adj" fmla="val 18000"/>
            </a:avLst>
          </a:prstGeom>
          <a:solidFill>
            <a:srgbClr val="1A2A1A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79608" y="1051560"/>
            <a:ext cx="1481328" cy="502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79608" y="1124712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ptos"/>
              </a:rPr>
              <a:t>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25328" y="1508760"/>
            <a:ext cx="1389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 Display"/>
              </a:rPr>
              <a:t>git_utils.
git_commit()
(optional)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34472" y="2194560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Aptos"/>
              </a:rPr>
              <a:t>Auto-commits PDF if not gitignored
git_push() only if --push flag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063240"/>
            <a:ext cx="11521440" cy="1234440"/>
          </a:xfrm>
          <a:prstGeom prst="roundRect">
            <a:avLst>
              <a:gd name="adj" fmla="val 15000"/>
            </a:avLst>
          </a:prstGeom>
          <a:solidFill>
            <a:srgbClr val="1A2030"/>
          </a:solidFill>
          <a:ln>
            <a:solidFill>
              <a:srgbClr val="304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12724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ptos"/>
              </a:rPr>
              <a:t>Section Budget Constants (enforced by apply_budget() in filter_engine.py):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Aptos"/>
              </a:rPr>
              <a:t>MAX_BULLETS_PER_JOB  = 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Aptos"/>
              </a:rPr>
              <a:t>MAX_PROJECTS  = 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Aptos"/>
              </a:rPr>
              <a:t>MAX_ACHIEVEMENTS  =  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Aptos"/>
              </a:rPr>
              <a:t>MAX_COURSEWORK  =  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434840"/>
            <a:ext cx="11521440" cy="502920"/>
          </a:xfrm>
          <a:prstGeom prst="roundRect">
            <a:avLst>
              <a:gd name="adj" fmla="val 12000"/>
            </a:avLst>
          </a:prstGeom>
          <a:solidFill>
            <a:srgbClr val="28201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44348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  <a:latin typeface="Aptos"/>
              </a:rPr>
              <a:t>⚠  No Pydantic validation on the CLI compile path — data stays as plain Python dicts, accessed with .get() and defaults throughout.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120640"/>
            <a:ext cx="11521440" cy="777240"/>
          </a:xfrm>
          <a:prstGeom prst="roundRect">
            <a:avLst>
              <a:gd name="adj" fmla="val 12000"/>
            </a:avLst>
          </a:prstGeom>
          <a:solidFill>
            <a:srgbClr val="1422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166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ptos"/>
              </a:rPr>
              <a:t>Web Path Addition: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54589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Browser  →  GET /  →  Edit form (pre-filled from YAML)  →  POST /save  (Pydantic validates → writes YAML)  →  POST /generate  →  same filter_engine + pdf_renderer  →  PDF download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Project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Aptos Display"/>
              </a:rPr>
              <a:t>🖥️  CLI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035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2011680" cy="12801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58191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 Display"/>
              </a:rPr>
              <a:t>1. Run 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011680"/>
            <a:ext cx="1874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python compile_resume.py
--target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0116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508760"/>
            <a:ext cx="2011680" cy="12801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1508760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0048" y="158191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 Display"/>
              </a:rPr>
              <a:t>2. Load 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011680"/>
            <a:ext cx="1874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Resolve data/resume.yaml
or .example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0116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508760"/>
            <a:ext cx="2011680" cy="12801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508760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4608" y="158191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 Display"/>
              </a:rPr>
              <a:t>3. Filter/Rank/Budget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2011680"/>
            <a:ext cx="1874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filter_engine per section
→ build_resume_data()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0116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508760"/>
            <a:ext cx="2011680" cy="12801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1508760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158191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 Display"/>
              </a:rPr>
              <a:t>4. Render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011680"/>
            <a:ext cx="1874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pdf_renderer
→ output/resume_backend.pdf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20116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1508760"/>
            <a:ext cx="2011680" cy="12801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1508760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3728" y="158191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 Display"/>
              </a:rPr>
              <a:t>5. Git Commit
(optional)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2011680"/>
            <a:ext cx="1874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git_utils.git_commit()
git_utils.git_push()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01752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Aptos Display"/>
              </a:rPr>
              <a:t>🌐  Web UI Workflow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83280"/>
            <a:ext cx="53035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520440"/>
            <a:ext cx="2011680" cy="12801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520440"/>
            <a:ext cx="20116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359359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 Display"/>
              </a:rPr>
              <a:t>1. Open Editor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4023360"/>
            <a:ext cx="1874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GET /
Pre-filled from YAML
Pydantic-normalized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8" y="402336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3520440"/>
            <a:ext cx="2011680" cy="12801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0" y="3520440"/>
            <a:ext cx="20116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70048" y="359359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 Display"/>
              </a:rPr>
              <a:t>2. Edit &amp; Save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70048" y="4023360"/>
            <a:ext cx="1874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POST /save
Pydantic validates
Writes data/resume.yaml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0288" y="402336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3520440"/>
            <a:ext cx="2011680" cy="12801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54880" y="3520440"/>
            <a:ext cx="20116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64608" y="359359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 Display"/>
              </a:rPr>
              <a:t>3. Choose Target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64608" y="4023360"/>
            <a:ext cx="1874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GET /generate
Pick tag (backend, etc.)
Optional: commit to git 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4848" y="402336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9440" y="3520440"/>
            <a:ext cx="2011680" cy="12801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49440" y="3520440"/>
            <a:ext cx="20116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9168" y="359359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 Display"/>
              </a:rPr>
              <a:t>4. Generate PDF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9168" y="4023360"/>
            <a:ext cx="1874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POST /generate
Same filter_engine
+ pdf_renderer core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79408" y="402336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3520440"/>
            <a:ext cx="2011680" cy="12801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00" y="3520440"/>
            <a:ext cx="20116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53728" y="359359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 Display"/>
              </a:rPr>
              <a:t>5. Download
+ Optional Push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53728" y="4023360"/>
            <a:ext cx="1874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Aptos"/>
              </a:rPr>
              <a:t>PDF streamed back
POST /git/push
(confirm() dialog)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074920"/>
            <a:ext cx="11430000" cy="502920"/>
          </a:xfrm>
          <a:prstGeom prst="roundRect">
            <a:avLst>
              <a:gd name="adj" fmla="val 12000"/>
            </a:avLst>
          </a:prstGeom>
          <a:solidFill>
            <a:srgbClr val="1A2E55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Aptos"/>
              </a:rPr>
              <a:t>⚡  Both tracks converge at filter_engine.py + pdf_renderer.py — the same shared core executes regardless of entry point.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715000"/>
            <a:ext cx="11430000" cy="96012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A3"/>
                </a:solidFill>
                <a:latin typeface="Aptos"/>
              </a:rPr>
              <a:t>Quick CLI Reference: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0533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E2E8F0"/>
                </a:solidFill>
                <a:latin typeface="Aptos"/>
              </a:rPr>
              <a:t>python compile_resume.py --target backend      │      --push (auto-commit+push)      │      --preview (open PDF)      │      --list-targets      │      --targets-report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Project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56235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1556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  <a:latin typeface="Aptos"/>
              </a:rPr>
              <a:t>resume-engine/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42339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Aptos"/>
              </a:rPr>
              <a:t>├── compile_resume.py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6911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Aptos"/>
              </a:rPr>
              <a:t>├── filter_engine.py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95881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Aptos"/>
              </a:rPr>
              <a:t>├── pdf_renderer.py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226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Aptos"/>
              </a:rPr>
              <a:t>├── git_utils.py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49423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Aptos"/>
              </a:rPr>
              <a:t>├── run_web.py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7619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A3"/>
                </a:solidFill>
                <a:latin typeface="Aptos"/>
              </a:rPr>
              <a:t>├── requirements.txt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02965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B94A3"/>
                </a:solidFill>
                <a:latin typeface="Aptos"/>
              </a:rPr>
              <a:t>├── README.md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2973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Aptos"/>
              </a:rPr>
              <a:t>├── data/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56507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│   ├── resume.example.yaml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8327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94A3"/>
                </a:solidFill>
                <a:latin typeface="Aptos"/>
              </a:rPr>
              <a:t>│   └── resume.yaml  (gitignored)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10049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Aptos"/>
              </a:rPr>
              <a:t>├── templates/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3682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A3"/>
                </a:solidFill>
                <a:latin typeface="Aptos"/>
              </a:rPr>
              <a:t>│   └── resume_template.html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63591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Aptos"/>
              </a:rPr>
              <a:t>├── tests/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9036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│   ├── conftest.py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17133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│   └── test_filter_engine.py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4390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8BDF8"/>
                </a:solidFill>
                <a:latin typeface="Aptos"/>
              </a:rPr>
              <a:t>├── web/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70675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│   ├── app.py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9744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│   ├── models.py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24217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│   ├── data_store.py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5098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Aptos"/>
              </a:rPr>
              <a:t>│   ├── templates/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77759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Aptos"/>
              </a:rPr>
              <a:t>│   └── static/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0453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BD568"/>
                </a:solidFill>
                <a:latin typeface="Aptos"/>
              </a:rPr>
              <a:t>└── .github/workflows/ci.yml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143000"/>
            <a:ext cx="36576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10515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Aptos Display"/>
              </a:rPr>
              <a:t>CLI Entry 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Aptos"/>
              </a:rPr>
              <a:t>Argparse-based CLI. Flags: --target, --output, --push, --preview, --list-targets, --targets-report.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1965959"/>
            <a:ext cx="36576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1874519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8BDF8"/>
                </a:solidFill>
                <a:latin typeface="Aptos Display"/>
              </a:rPr>
              <a:t>Core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148839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Aptos"/>
              </a:rPr>
              <a:t>filter_engine.py — pure functions, unit tested.
pdf_renderer.py — ReportLab canvas, multi-page overflow.
git_utils.py — auto-commit/push, gitignore-aware.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2971800"/>
            <a:ext cx="36576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28803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Aptos Display"/>
              </a:rPr>
              <a:t>Data 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1546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Aptos"/>
              </a:rPr>
              <a:t>resume.example.yaml — fictional demo data, committed.
resume.yaml — your real data, gitignored (never committed).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703320"/>
            <a:ext cx="36576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36118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  <a:latin typeface="Aptos Display"/>
              </a:rPr>
              <a:t>HTML Template (Dormant)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38862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Aptos"/>
              </a:rPr>
              <a:t>Jinja2/WeasyPrint renderer — exists but not yet wired up. Listed in roadmap.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4297680"/>
            <a:ext cx="36576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420624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Aptos Display"/>
              </a:rPr>
              <a:t>Test Suite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48056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Aptos"/>
              </a:rPr>
              <a:t>~40 pytest unit tests. conftest.py holds shared fixtures.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4800600"/>
            <a:ext cx="36576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7091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8BDF8"/>
                </a:solidFill>
                <a:latin typeface="Aptos Display"/>
              </a:rPr>
              <a:t>Web Module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49834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Aptos"/>
              </a:rPr>
              <a:t>FastAPI routes (app.py) · Pydantic models · YAML data store · Jinja2 templates · CSS dark theme · vanilla JS.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5623560"/>
            <a:ext cx="36576" cy="457200"/>
          </a:xfrm>
          <a:prstGeom prst="rect">
            <a:avLst/>
          </a:prstGeom>
          <a:solidFill>
            <a:srgbClr val="FBD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55321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BD568"/>
                </a:solidFill>
                <a:latin typeface="Aptos Display"/>
              </a:rPr>
              <a:t>CI/CD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58064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Aptos"/>
              </a:rPr>
              <a:t>GitHub Actions: runs pytest + smoke-compiles backend/data-science/frontend on every push.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Live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B94A3"/>
                </a:solidFill>
                <a:latin typeface="Aptos"/>
              </a:rPr>
              <a:t>Replace placeholder frames below with actual screenshots before submission.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743200" cy="384048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7432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344168"/>
            <a:ext cx="2523744" cy="2377440"/>
          </a:xfrm>
          <a:prstGeom prst="roundRect">
            <a:avLst>
              <a:gd name="adj" fmla="val 12000"/>
            </a:avLst>
          </a:prstGeom>
          <a:solidFill>
            <a:srgbClr val="0A0F18"/>
          </a:solidFill>
          <a:ln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44168"/>
            <a:ext cx="25237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04565"/>
                </a:solidFill>
                <a:latin typeface="Aptos"/>
              </a:rPr>
              <a:t>[ Screenshot Placeholder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77647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 Display"/>
              </a:rPr>
              <a:t>Edit Resume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1605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  <a:latin typeface="Aptos"/>
              </a:rPr>
              <a:t>http://127.0.0.1:8000/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599432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A3"/>
                </a:solidFill>
                <a:latin typeface="Aptos"/>
              </a:rPr>
              <a:t>Open the web UI and screenshot the form editor.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234440"/>
            <a:ext cx="2743200" cy="384048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234440"/>
            <a:ext cx="274320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47288" y="1344168"/>
            <a:ext cx="2523744" cy="2377440"/>
          </a:xfrm>
          <a:prstGeom prst="roundRect">
            <a:avLst>
              <a:gd name="adj" fmla="val 12000"/>
            </a:avLst>
          </a:prstGeom>
          <a:solidFill>
            <a:srgbClr val="0A0F18"/>
          </a:solidFill>
          <a:ln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8" y="1344168"/>
            <a:ext cx="25237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04565"/>
                </a:solidFill>
                <a:latin typeface="Aptos"/>
              </a:rPr>
              <a:t>[ Screenshot Placeholder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377647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 Display"/>
              </a:rPr>
              <a:t>Generate PDF 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41605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8BDF8"/>
                </a:solidFill>
                <a:latin typeface="Aptos"/>
              </a:rPr>
              <a:t>http://127.0.0.1:8000/generate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4599432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A3"/>
                </a:solidFill>
                <a:latin typeface="Aptos"/>
              </a:rPr>
              <a:t>Pick 'backend' target and screenshot the generate page.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234440"/>
            <a:ext cx="2743200" cy="384048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234440"/>
            <a:ext cx="2743200" cy="502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19088" y="1344168"/>
            <a:ext cx="2523744" cy="2377440"/>
          </a:xfrm>
          <a:prstGeom prst="roundRect">
            <a:avLst>
              <a:gd name="adj" fmla="val 12000"/>
            </a:avLst>
          </a:prstGeom>
          <a:solidFill>
            <a:srgbClr val="0A0F18"/>
          </a:solidFill>
          <a:ln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344168"/>
            <a:ext cx="25237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04565"/>
                </a:solidFill>
                <a:latin typeface="Aptos"/>
              </a:rPr>
              <a:t>[ Screenshot Placeholder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77647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 Display"/>
              </a:rPr>
              <a:t>Generated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1605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2C55E"/>
                </a:solidFill>
                <a:latin typeface="Aptos"/>
              </a:rPr>
              <a:t>/tmp/resume_backend_demo.pdf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599432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A3"/>
                </a:solidFill>
                <a:latin typeface="Aptos"/>
              </a:rPr>
              <a:t>Screenshot page 1 of the generated resume PDF.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1234440"/>
            <a:ext cx="2743200" cy="384048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81160" y="1234440"/>
            <a:ext cx="27432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90888" y="1344168"/>
            <a:ext cx="2523744" cy="2377440"/>
          </a:xfrm>
          <a:prstGeom prst="roundRect">
            <a:avLst>
              <a:gd name="adj" fmla="val 12000"/>
            </a:avLst>
          </a:prstGeom>
          <a:solidFill>
            <a:srgbClr val="0A0F18"/>
          </a:solidFill>
          <a:ln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90888" y="1344168"/>
            <a:ext cx="25237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04565"/>
                </a:solidFill>
                <a:latin typeface="Aptos"/>
              </a:rPr>
              <a:t>[ Screenshot Placeholder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377647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 Display"/>
              </a:rPr>
              <a:t>--targets-report CLI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41605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9E0B"/>
                </a:solidFill>
                <a:latin typeface="Aptos"/>
              </a:rPr>
              <a:t>python compile_resume.py
--targets-report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4599432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A3"/>
                </a:solidFill>
                <a:latin typeface="Aptos"/>
              </a:rPr>
              <a:t>Screenshot the colored terminal table.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30368"/>
            <a:ext cx="11430000" cy="1463040"/>
          </a:xfrm>
          <a:prstGeom prst="roundRect">
            <a:avLst>
              <a:gd name="adj" fmla="val 15000"/>
            </a:avLst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2760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Aptos Display"/>
              </a:rPr>
              <a:t>📸  How to Capture Screenshots Before Submission: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59612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Aptos"/>
              </a:rPr>
              <a:t>1. cd resume-engine  &amp;&amp;  source venv/bin/activate  &amp;&amp;  python run_web.py
2. Browser → http://127.0.0.1:8000  →  screenshot Edit page
3. Browser → http://127.0.0.1:8000/generate  →  screenshot Generate page
4. Click Generate (target: backend)  →  open downloaded PDF  →  screenshot page 1
5. Terminal: python compile_resume.py --targets-report  →  screenshot colored 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Engineering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577840" cy="13716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577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09728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ptos Display"/>
              </a:rPr>
              <a:t>Multi-Page PDF Overflow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361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Aptos"/>
              </a:rPr>
              <a:t>⚠  Problem: Four separate try/except blocks for overflow — brittle and repetitive.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019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  <a:latin typeface="Aptos"/>
              </a:rPr>
              <a:t>✓  Solution: Unified _check_or_new_page() overflow gate — one function handles page breaks throughout the renderer.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005840"/>
            <a:ext cx="5577840" cy="13716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005840"/>
            <a:ext cx="5577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109728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ptos Display"/>
              </a:rPr>
              <a:t>ReportLab Word-Wrap &amp; Hanging Indents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361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Aptos"/>
              </a:rPr>
              <a:t>⚠  Problem: ReportLab's canvas API has no built-in rich text flow — bullet wrapping and indentation required manual calculation.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019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  <a:latin typeface="Aptos"/>
              </a:rPr>
              <a:t>✓  Solution: Explicit y-coordinate tracking and manual text-width measurement for correct hanging indent rendering.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06040"/>
            <a:ext cx="5577840" cy="13716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606040"/>
            <a:ext cx="5577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69748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269748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ptos Display"/>
              </a:rPr>
              <a:t>.gitignore-Aware Auto-Commit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36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Aptos"/>
              </a:rPr>
              <a:t>⚠  Problem: GitPython reports an already-tracked file as 'not ignored' even if it matches a .gitignore rule — a quiet bug.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021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  <a:latin typeface="Aptos"/>
              </a:rPr>
              <a:t>✓  Solution: Explicit safeguard in git_utils.py — checks tracking status AND .gitignore independently before committing.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606040"/>
            <a:ext cx="5577840" cy="13716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606040"/>
            <a:ext cx="5577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269748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ptos Display"/>
              </a:rPr>
              <a:t>Two Different 'Empty' Behaviors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136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Aptos"/>
              </a:rPr>
              <a:t>⚠  Problem: A job with zero matching bullets should be dropped entirely; a degree entry with zero matching coursework should be kept.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021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  <a:latin typeface="Aptos"/>
              </a:rPr>
              <a:t>✓  Solution: filter_experience() drops jobs with no bullets; filter_education() always keeps the degree entry, only filtering coursework within 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06240"/>
            <a:ext cx="5577840" cy="13716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206240"/>
            <a:ext cx="5577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29768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⚙️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29768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ptos Display"/>
              </a:rPr>
              <a:t>CLI + Web UI Sync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365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Aptos"/>
              </a:rPr>
              <a:t>⚠  Problem: Risk of the CLI and web UI using different filter/render logic — any divergence is a silent bug.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1023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  <a:latin typeface="Aptos"/>
              </a:rPr>
              <a:t>✓  Solution: Both frontends explicitly import and call the same filter_engine.py and pdf_renderer.py — zero logic duplication.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206240"/>
            <a:ext cx="5577840" cy="13716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206240"/>
            <a:ext cx="5577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9768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93992" y="429768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ptos Display"/>
              </a:rPr>
              <a:t>Protecting Personal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7365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Aptos"/>
              </a:rPr>
              <a:t>⚠  Problem: data/resume.yaml contains real personal info — accidental git commit would expose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1023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  <a:latin typeface="Aptos"/>
              </a:rPr>
              <a:t>✓  Solution: data/resume.yaml is gitignored; a fictional example dataset (Jordan Rivera) ships for safe demo and CI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Future Scope &amp;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Aptos Display"/>
              </a:rPr>
              <a:t>📋  From the Project's README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30000" cy="713232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4864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411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ptos"/>
              </a:rP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4721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HTML/WeasyPrint Renderer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7863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Aptos"/>
              </a:rPr>
              <a:t>Wire the dormant templates/resume_template.html with WeasyPrint for CSS-driven, browser-faithful PDF rendering. A --renderer html flag.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21992"/>
            <a:ext cx="11430000" cy="713232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21992"/>
            <a:ext cx="54864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21992"/>
            <a:ext cx="411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ptos"/>
              </a:rPr>
              <a:t>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768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Multi-Theme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13432"/>
            <a:ext cx="7863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Aptos"/>
              </a:rPr>
              <a:t>The web UI 'Theme' dropdown already exists (currently 'Coming soon'). Build a theme registry in pdf_renderer.py.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26664"/>
            <a:ext cx="11430000" cy="713232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026664"/>
            <a:ext cx="54864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026664"/>
            <a:ext cx="411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ptos"/>
              </a:rPr>
              <a:t>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081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YAML Schema Validation (CLI)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118104"/>
            <a:ext cx="7863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Aptos"/>
              </a:rPr>
              <a:t>Add pre-render YAML validation using jsonschema or Pydantic to the compile path — currently only the web editor validates.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31336"/>
            <a:ext cx="11430000" cy="713232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831336"/>
            <a:ext cx="54864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831336"/>
            <a:ext cx="411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ptos"/>
              </a:rPr>
              <a:t>🖱️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886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Interactive TUI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3922776"/>
            <a:ext cx="7863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Aptos"/>
              </a:rPr>
              <a:t>A rich + prompt_toolkit terminal UI for browsing and selecting targets interactively — no need to remember tag names.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36008"/>
            <a:ext cx="11430000" cy="713232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636008"/>
            <a:ext cx="54864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636008"/>
            <a:ext cx="411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ptos"/>
              </a:rPr>
              <a:t>✉️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908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Cover Letter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4727448"/>
            <a:ext cx="7863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Aptos"/>
              </a:rPr>
              <a:t>A parallel cover_letter.yaml + Jinja2 template using the same tag system for tailored cover letter generation.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5778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Aptos Display"/>
              </a:rPr>
              <a:t>💡  Reasonable Extension Ideas  (beyond the README)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897880"/>
            <a:ext cx="11430000" cy="749808"/>
          </a:xfrm>
          <a:prstGeom prst="roundRect">
            <a:avLst>
              <a:gd name="adj" fmla="val 15000"/>
            </a:avLst>
          </a:prstGeom>
          <a:solidFill>
            <a:srgbClr val="28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94360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9E0B"/>
                </a:solidFill>
                <a:latin typeface="Aptos"/>
              </a:rPr>
              <a:t>☁  Cloud hosting + authentication for multi-user accounts  ·  🤖  ATS-score estimation  ·  📌  Job-description-driven tag suggestions  ·  📊  Analytics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Key Learnings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577840" cy="123444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4864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ptos"/>
              </a:rPr>
              <a:t>🏗️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0972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Separation of Concerns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One core engine reused by two different frontends (CLI + web). Changes in filter_engine.py benefit both simultaneously.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5577840" cy="123444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05840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ptos"/>
              </a:rPr>
              <a:t>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0972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Pure, Testable 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filter_engine.py has no side effects — all functions take data in, return data out. This made ~40 unit tests straightforward to write.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77440"/>
            <a:ext cx="5577840" cy="123444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37744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6888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ptos"/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4688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Defensive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2608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Safe fallbacks throughout: demo data when real YAML is missing, gitignore-aware commit skip, .get() with defaults instead of hard crashes.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377440"/>
            <a:ext cx="5577840" cy="123444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377440"/>
            <a:ext cx="54864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46888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ptos"/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24688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REST API Design with 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2608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GET vs POST semantics, Pydantic for request validation, streaming responses for PDF download, structured error handling.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49039"/>
            <a:ext cx="5577840" cy="123444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749039"/>
            <a:ext cx="54864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40479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ptos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84047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Schema Validation with Pydantic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97679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Validating structured user input at the API boundary — catching malformed data before it reaches the business logic layer.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749039"/>
            <a:ext cx="5577840" cy="123444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F4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749039"/>
            <a:ext cx="54864" cy="1234440"/>
          </a:xfrm>
          <a:prstGeom prst="rect">
            <a:avLst/>
          </a:prstGeom>
          <a:solidFill>
            <a:srgbClr val="F4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840479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ptos"/>
              </a:rPr>
              <a:t>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384047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Git Automation with GitPython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97679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Programmatic commits, push, and .gitignore inspection. Understanding Git internals (tracking status vs. ignore rules).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120640"/>
            <a:ext cx="5577840" cy="123444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FBD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120640"/>
            <a:ext cx="54864" cy="1234440"/>
          </a:xfrm>
          <a:prstGeom prst="rect">
            <a:avLst/>
          </a:prstGeom>
          <a:solidFill>
            <a:srgbClr val="FBD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21208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ptos"/>
              </a:rPr>
              <a:t>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52120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CI/CD with GitHub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66928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Automated test runs and smoke-compilation on every push. The CI is what ensures the demo data covers all supported targets.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120640"/>
            <a:ext cx="5577840" cy="123444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5120640"/>
            <a:ext cx="54864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21208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ptos"/>
              </a:rPr>
              <a:t>⚖️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568" y="52120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Pragmatic Technology Choices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66928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ReportLab over HTML rendering (no browser dependency). FastAPI over Flask (async, built-in validation). Plain YAML over a database.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54864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137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Testing &amp; Engineering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 Display"/>
              </a:rPr>
              <a:t>Test Coverage Reality Check  (engineering maturity requires honesty)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5486400" cy="3749039"/>
          </a:xfrm>
          <a:prstGeom prst="roundRect">
            <a:avLst>
              <a:gd name="adj" fmla="val 18000"/>
            </a:avLst>
          </a:prstGeom>
          <a:solidFill>
            <a:srgbClr val="0E2016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89888"/>
            <a:ext cx="54864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Aptos Display"/>
              </a:rPr>
              <a:t>✅  Fully Covered by ~40 Unit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  ▸  filter_list() / _matches()  — tag inclusion &amp; 'general'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  ▸  rank_by_relevance()  — relevance scoring and priority: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603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  ▸  apply_budget()  — trim, no-op, and exact-budget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803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  ▸  filter_experience()  — regression: zero-bullet jobs dropped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04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  ▸  filter_education()  — degrees always kept, coursework filtered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204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  ▸  filter_skills()  — empty categories omitted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40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  ▸  collect_all_tags()  — 'general' excluded, sorted, deduplicated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605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  ▸  build_resume_data()  — full integration test via tmp YAML fixture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805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  ▸  Edge cases  — empty lists, missing 'tags' key, unknown target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89888"/>
            <a:ext cx="5486400" cy="2103120"/>
          </a:xfrm>
          <a:prstGeom prst="roundRect">
            <a:avLst>
              <a:gd name="adj" fmla="val 18000"/>
            </a:avLst>
          </a:prstGeom>
          <a:solidFill>
            <a:srgbClr val="28181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389888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4630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 Display"/>
              </a:rPr>
              <a:t>⚠  Not Yet Unit Tested  (Future Work)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  ▸  pdf_renderer.py  — ReportLab canvas output is hard to assert programmatically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286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  ▸  git_utils.py  — requires a live git repo fixture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651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  ▸  web/app.py  — FastAPI routes / HTTP integration tests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639312"/>
            <a:ext cx="5486400" cy="1508760"/>
          </a:xfrm>
          <a:prstGeom prst="roundRect">
            <a:avLst>
              <a:gd name="adj" fmla="val 18000"/>
            </a:avLst>
          </a:prstGeom>
          <a:solidFill>
            <a:srgbClr val="142030"/>
          </a:solidFill>
          <a:ln>
            <a:solidFill>
              <a:srgbClr val="FBD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639312"/>
            <a:ext cx="5486400" cy="54864"/>
          </a:xfrm>
          <a:prstGeom prst="rect">
            <a:avLst/>
          </a:prstGeom>
          <a:solidFill>
            <a:srgbClr val="FBD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71246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D568"/>
                </a:solidFill>
                <a:latin typeface="Aptos Display"/>
              </a:rPr>
              <a:t>🚀  GitHub Actions CI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133087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1. Setup: checkout · Python 3.12 · pip install -r requirements.txt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389119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2. Tests: pytest tests/ -v  (full ~40-test suite)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645151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3. Smoke: compile --target backend / data-science / 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901183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Aptos"/>
              </a:rPr>
              <a:t>4. Verify: --list-targets · --targets-report  (no exceptions)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230368"/>
            <a:ext cx="11430000" cy="59436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23036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Aptos"/>
              </a:rPr>
              <a:t>📌  Test fixtures are shared via tests/conftest.py — sample_data (in-memory dict) and tmp_yaml (writes to tmp_path). Adding a new target only requires updating conftest.py.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943600"/>
            <a:ext cx="11430000" cy="713232"/>
          </a:xfrm>
          <a:prstGeom prst="roundRect">
            <a:avLst>
              <a:gd name="adj" fmla="val 12000"/>
            </a:avLst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943600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A3"/>
                </a:solidFill>
                <a:latin typeface="Aptos"/>
              </a:rPr>
              <a:t>🔮  Planned: pytest-httpx for FastAPI integration tests · PDF content assertions via PyMuPDF · temporary git repo fixtures for git_utils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-457200"/>
            <a:ext cx="2926080" cy="2926080"/>
          </a:xfrm>
          <a:prstGeom prst="roundRect">
            <a:avLst>
              <a:gd name="adj" fmla="val 10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0" y="-91440"/>
            <a:ext cx="2194560" cy="219456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07040" y="274320"/>
            <a:ext cx="1463040" cy="1463040"/>
          </a:xfrm>
          <a:prstGeom prst="roundRect">
            <a:avLst>
              <a:gd name="adj" fmla="val 10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601200" cy="9144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Aptos Display"/>
              </a:rPr>
              <a:t>🎯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463040"/>
            <a:ext cx="7315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Aptos"/>
              </a:rPr>
              <a:t>Resume customization is repetitive, error-prone, and produces inconsistent versions of your career history.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9601200" cy="9144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64008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420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Aptos Display"/>
              </a:rPr>
              <a:t>💡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560320"/>
            <a:ext cx="7315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Aptos"/>
              </a:rPr>
              <a:t>Resume Engine: one YAML source of truth, tag-based filtering, and automatic PDF generation via CLI or web UI.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9601200" cy="9144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64008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393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Aptos Display"/>
              </a:rPr>
              <a:t>⚡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57600"/>
            <a:ext cx="7315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Aptos"/>
              </a:rPr>
              <a:t>Role-specific, one-page PDF resumes in under a second — with git version history, CI validation, and a Pydantic-validated web editor.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9601200" cy="91440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365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 Display"/>
              </a:rPr>
              <a:t>📚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754880"/>
            <a:ext cx="7315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Aptos"/>
              </a:rPr>
              <a:t>Separation of concerns · pure functions · defensive design · REST APIs · Git automation · CI/CD — real engineering principles, applied.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362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38BDF8"/>
                </a:solidFill>
                <a:latin typeface="Aptos"/>
              </a:rPr>
              <a:t>Questions? I'd love to go deeper on any part of the implementation.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751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A3"/>
                </a:solidFill>
                <a:latin typeface="Aptos"/>
              </a:rPr>
              <a:t>Resume Engine  ·  Summer Training Project  ·  [Author Name]  ·  [College]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